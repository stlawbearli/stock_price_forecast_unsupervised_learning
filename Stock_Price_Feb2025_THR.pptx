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57" r:id="rId4"/>
    <p:sldId id="258" r:id="rId5"/>
    <p:sldId id="261" r:id="rId6"/>
    <p:sldId id="262" r:id="rId7"/>
    <p:sldId id="260" r:id="rId8"/>
    <p:sldId id="264" r:id="rId10"/>
    <p:sldId id="265" r:id="rId11"/>
    <p:sldId id="275" r:id="rId12"/>
    <p:sldId id="266" r:id="rId13"/>
    <p:sldId id="267" r:id="rId14"/>
    <p:sldId id="269"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74" r:id="rId38"/>
    <p:sldId id="26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Scaler centers data around 0 and scales it to unit variance</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Using a model previously learn that fits multiple decision trees to learn which features are most important.</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Reduces high-dimensional data to 2D for visualization</a:t>
            </a:r>
            <a:endParaRPr lang="en-US" altLang="en-US"/>
          </a:p>
          <a:p>
            <a:r>
              <a:rPr lang="en-US" altLang="en-US"/>
              <a:t>Applies PCA transformation to the standardized data</a:t>
            </a:r>
            <a:endParaRPr lang="en-US" altLang="en-US"/>
          </a:p>
          <a:p>
            <a:r>
              <a:rPr lang="en-US" altLang="en-US"/>
              <a:t>Inertia: Measures how tightly data points are clustered. Lower being better.</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n_neighbours = 5 being an arbritary number. As I felt any lower might be overfitting the model.</a:t>
            </a:r>
            <a:endParaRPr lang="en-US"/>
          </a:p>
          <a:p>
            <a:endParaRPr 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The Davies-Bouldin Index is a validation metric that is used to evaluate clustering models. It is calculated as the average similarity measure of each cluster with the cluster most similar to it. In this context, similarity is defined as the ratio between inter-cluster and intra-cluster distances. As such, this index ranks well-separated clusters with less dispersion as having a better score.</a:t>
            </a:r>
            <a:endParaRPr lang="en-US" altLang="en-US"/>
          </a:p>
          <a:p>
            <a:endParaRPr lang="en-US" altLang="en-US"/>
          </a:p>
          <a:p>
            <a:r>
              <a:rPr lang="en-US" altLang="en-US"/>
              <a:t>Advantages of the Davies-Bouldin Index</a:t>
            </a:r>
            <a:endParaRPr lang="en-US" altLang="en-US"/>
          </a:p>
          <a:p>
            <a:r>
              <a:rPr lang="en-US" altLang="en-US"/>
              <a:t>The DBI is a relative metric, which means that it can be used to compare the clustering results of different algorithms on the same dataset.</a:t>
            </a:r>
            <a:endParaRPr lang="en-US" altLang="en-US"/>
          </a:p>
          <a:p>
            <a:r>
              <a:rPr lang="en-US" altLang="en-US"/>
              <a:t>The DBI has a clear interpretation: a lower DBI value indicates more compact and well-separated clusters.</a:t>
            </a:r>
            <a:endParaRPr lang="en-US" altLang="en-US"/>
          </a:p>
          <a:p>
            <a:r>
              <a:rPr lang="en-US" altLang="en-US"/>
              <a:t>It is a relatively simple metric to calculate.</a:t>
            </a:r>
            <a:endParaRPr lang="en-US" altLang="en-US"/>
          </a:p>
          <a:p>
            <a:r>
              <a:rPr lang="en-US" altLang="en-US"/>
              <a:t>It provides a global measure of the quality of a clustering solution.</a:t>
            </a:r>
            <a:endParaRPr lang="en-US" altLang="en-US"/>
          </a:p>
          <a:p>
            <a:r>
              <a:rPr lang="en-US" altLang="en-US"/>
              <a:t>It is relatively insensitive to the choice of distance metric.</a:t>
            </a:r>
            <a:endParaRPr lang="en-US" altLang="en-US"/>
          </a:p>
          <a:p>
            <a:r>
              <a:rPr lang="en-US" altLang="en-US"/>
              <a:t>Limitations of the Davies-Bouldin Index</a:t>
            </a:r>
            <a:endParaRPr lang="en-US" altLang="en-US"/>
          </a:p>
          <a:p>
            <a:r>
              <a:rPr lang="en-US" altLang="en-US"/>
              <a:t>The Davies-Bouldin Index is sensitive to outliers and noise in the data.</a:t>
            </a:r>
            <a:endParaRPr lang="en-US" altLang="en-US"/>
          </a:p>
          <a:p>
            <a:r>
              <a:rPr lang="en-US" altLang="en-US"/>
              <a:t>The Davies-Bouldin Index does not take into account the structure or distribution of data, such as clusters within clusters or non-linear relationships.</a:t>
            </a:r>
            <a:endParaRPr lang="en-US" altLang="en-US"/>
          </a:p>
          <a:p>
            <a:r>
              <a:rPr lang="en-US" altLang="en-US"/>
              <a:t>The Davies-Bouldin Index only considers the pairwise distances between cluster centroids and cluster members.</a:t>
            </a:r>
            <a:endParaRPr lang="en-US" altLang="en-US"/>
          </a:p>
          <a:p>
            <a:r>
              <a:rPr lang="en-US" altLang="en-US"/>
              <a:t>The DBI can be computationally expensive to calculate for large datasets.</a:t>
            </a:r>
            <a:endParaRPr lang="en-US" altLang="en-US"/>
          </a:p>
          <a:p>
            <a:r>
              <a:rPr lang="en-US" altLang="en-US"/>
              <a:t>The DBI is not suitable for all clustering tasks. For example, it is not well-suited for clustering tasks where the clusters are not well-separated.</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Interpreting the residuals from a SARIMAX model (or any time-series model) involves looking for patterns or abnormalities that may indicate the model’s performance and any potential improvements. Here's how you can interpret the results from the residual plots:</a:t>
            </a:r>
            <a:endParaRPr lang="en-US" altLang="en-US"/>
          </a:p>
          <a:p>
            <a:endParaRPr lang="en-US" altLang="en-US"/>
          </a:p>
          <a:p>
            <a:r>
              <a:rPr lang="en-US" altLang="en-US"/>
              <a:t>1. Residuals Plot</a:t>
            </a:r>
            <a:endParaRPr lang="en-US" altLang="en-US"/>
          </a:p>
          <a:p>
            <a:r>
              <a:rPr lang="en-US" altLang="en-US"/>
              <a:t>Expected Behavior: The residuals should resemble white noise, meaning they should be randomly scattered around zero with no apparent pattern. This indicates that the model has captured the underlying structure of the data.</a:t>
            </a:r>
            <a:endParaRPr lang="en-US" altLang="en-US"/>
          </a:p>
          <a:p>
            <a:r>
              <a:rPr lang="en-US" altLang="en-US"/>
              <a:t>Ideal Interpretation: If the residuals are randomly distributed and show no clear trend or seasonality, your model is doing a good job.</a:t>
            </a:r>
            <a:endParaRPr lang="en-US" altLang="en-US"/>
          </a:p>
          <a:p>
            <a:r>
              <a:rPr lang="en-US" altLang="en-US"/>
              <a:t>What to look for:</a:t>
            </a:r>
            <a:endParaRPr lang="en-US" altLang="en-US"/>
          </a:p>
          <a:p>
            <a:r>
              <a:rPr lang="en-US" altLang="en-US"/>
              <a:t>Patterns: If you see a pattern, like systematic upward or downward movements, or periodic spikes, it suggests that the model has not fully captured some aspect of the data, such as seasonality or trend. This might mean the model requires further adjustments (e.g., adjusting seasonal periods, adding/removing terms in the SARIMAX specification).</a:t>
            </a:r>
            <a:endParaRPr lang="en-US" altLang="en-US"/>
          </a:p>
          <a:p>
            <a:r>
              <a:rPr lang="en-US" altLang="en-US"/>
              <a:t>Outliers: Large spikes or outliers in the residual plot may suggest a poor model fit for certain data points. In this case, you might need to investigate those specific instances to understand why the model is underperforming.</a:t>
            </a:r>
            <a:endParaRPr lang="en-US" altLang="en-US"/>
          </a:p>
          <a:p>
            <a:r>
              <a:rPr lang="en-US" altLang="en-US"/>
              <a:t>2. Zero Line (Horizontal Line at 0)</a:t>
            </a:r>
            <a:endParaRPr lang="en-US" altLang="en-US"/>
          </a:p>
          <a:p>
            <a:r>
              <a:rPr lang="en-US" altLang="en-US"/>
              <a:t>Expected Behavior: Residuals should oscillate around zero. This means your model isn't systematically over or under-predicting. It should ideally have an equal number of residuals above and below zero.</a:t>
            </a:r>
            <a:endParaRPr lang="en-US" altLang="en-US"/>
          </a:p>
          <a:p>
            <a:r>
              <a:rPr lang="en-US" altLang="en-US"/>
              <a:t>Interpretation: A strong bias in the residuals (e.g., all the residuals are above or below zero) indicates that the model has a tendency to overestimate or underestimate the values. This could be resolved by adjusting the model, adding a trend, or reconsidering the order of differencing (for SARIMAX).</a:t>
            </a:r>
            <a:endParaRPr lang="en-US" altLang="en-US"/>
          </a:p>
          <a:p>
            <a:r>
              <a:rPr lang="en-US" altLang="en-US"/>
              <a:t>3. Histogram of Residuals</a:t>
            </a:r>
            <a:endParaRPr lang="en-US" altLang="en-US"/>
          </a:p>
          <a:p>
            <a:r>
              <a:rPr lang="en-US" altLang="en-US"/>
              <a:t>Expected Behavior: The histogram should ideally resemble a normal distribution. If the residuals are normally distributed, this suggests that the model is capturing the underlying data structure well.</a:t>
            </a:r>
            <a:endParaRPr lang="en-US" altLang="en-US"/>
          </a:p>
          <a:p>
            <a:r>
              <a:rPr lang="en-US" altLang="en-US"/>
              <a:t>Interpretation:</a:t>
            </a:r>
            <a:endParaRPr lang="en-US" altLang="en-US"/>
          </a:p>
          <a:p>
            <a:r>
              <a:rPr lang="en-US" altLang="en-US"/>
              <a:t>Normal Distribution: If the residuals are approximately normally distributed (bell-shaped), this indicates the model is performing well and errors are random.</a:t>
            </a:r>
            <a:endParaRPr lang="en-US" altLang="en-US"/>
          </a:p>
          <a:p>
            <a:r>
              <a:rPr lang="en-US" altLang="en-US"/>
              <a:t>Skewed Distribution: If the histogram shows skewness (e.g., a long tail to the right or left), it may indicate that the model has trouble predicting extreme values and needs adjustments.</a:t>
            </a:r>
            <a:endParaRPr lang="en-US" altLang="en-US"/>
          </a:p>
          <a:p>
            <a:r>
              <a:rPr lang="en-US" altLang="en-US"/>
              <a:t>Heavy Tails (Kurtosis): If the histogram has fat tails, it suggests that the model might not handle outliers effectively, and some data points are being poorly predicted.</a:t>
            </a:r>
            <a:endParaRPr lang="en-US" altLang="en-US"/>
          </a:p>
          <a:p>
            <a:r>
              <a:rPr lang="en-US" altLang="en-US"/>
              <a:t>4. Autocorrelation of Residuals (ACF/PACF Plots)</a:t>
            </a:r>
            <a:endParaRPr lang="en-US" altLang="en-US"/>
          </a:p>
          <a:p>
            <a:r>
              <a:rPr lang="en-US" altLang="en-US"/>
              <a:t>Optional: To further evaluate the residuals, you can plot the autocorrelation function (ACF) or partial autocorrelation function (PACF) of the residuals.</a:t>
            </a:r>
            <a:endParaRPr lang="en-US" altLang="en-US"/>
          </a:p>
          <a:p>
            <a:r>
              <a:rPr lang="en-US" altLang="en-US"/>
              <a:t>Expected Behavior: If the model is correctly specified, the residuals should be uncorrelated, meaning that there should be no significant correlations at any lags.</a:t>
            </a:r>
            <a:endParaRPr lang="en-US" altLang="en-US"/>
          </a:p>
          <a:p>
            <a:r>
              <a:rPr lang="en-US" altLang="en-US"/>
              <a:t>Interpretation:</a:t>
            </a:r>
            <a:endParaRPr lang="en-US" altLang="en-US"/>
          </a:p>
          <a:p>
            <a:r>
              <a:rPr lang="en-US" altLang="en-US"/>
              <a:t>No Significant Correlation: If the ACF/PACF plots of the residuals show no significant correlation at any lags (i.e., the bars are within the confidence intervals), then the model is likely well-specified.</a:t>
            </a:r>
            <a:endParaRPr lang="en-US" altLang="en-US"/>
          </a:p>
          <a:p>
            <a:r>
              <a:rPr lang="en-US" altLang="en-US"/>
              <a:t>Significant Correlation at Lags: If you see significant autocorrelation at certain lags, this suggests the model has missed important temporal structure (seasonality, trend, or cyclic patterns). This would indicate a need for adjusting the model by adding more terms or rethinking the seasonal/ARMA specifications.</a:t>
            </a:r>
            <a:endParaRPr lang="en-US" altLang="en-US"/>
          </a:p>
          <a:p>
            <a:r>
              <a:rPr lang="en-US" altLang="en-US"/>
              <a:t>5. Statistical Tests for Residuals</a:t>
            </a:r>
            <a:endParaRPr lang="en-US" altLang="en-US"/>
          </a:p>
          <a:p>
            <a:r>
              <a:rPr lang="en-US" altLang="en-US"/>
              <a:t>Optional Tests: You can perform certain statistical tests to evaluate the residuals further:</a:t>
            </a:r>
            <a:endParaRPr lang="en-US" altLang="en-US"/>
          </a:p>
          <a:p>
            <a:r>
              <a:rPr lang="en-US" altLang="en-US"/>
              <a:t>Shapiro-Wilk Test or Jarque-Bera Test: These tests assess whether the residuals are normally distributed.</a:t>
            </a:r>
            <a:endParaRPr lang="en-US" altLang="en-US"/>
          </a:p>
          <a:p>
            <a:r>
              <a:rPr lang="en-US" altLang="en-US"/>
              <a:t>Ljung-Box Test: This test checks if there is any significant autocorrelation at multiple lags.</a:t>
            </a:r>
            <a:endParaRPr lang="en-US" altLang="en-US"/>
          </a:p>
          <a:p>
            <a:r>
              <a:rPr lang="en-US" altLang="en-US"/>
              <a:t>Interpretation: If the p-value of these tests is low (typically below 0.05), it suggests that the residuals are not behaving like white noise, and you may need to revisit the model.</a:t>
            </a:r>
            <a:endParaRPr lang="en-US" altLang="en-US"/>
          </a:p>
          <a:p>
            <a:r>
              <a:rPr lang="en-US" altLang="en-US"/>
              <a:t>Summary:</a:t>
            </a:r>
            <a:endParaRPr lang="en-US" altLang="en-US"/>
          </a:p>
          <a:p>
            <a:r>
              <a:rPr lang="en-US" altLang="en-US"/>
              <a:t>Good residuals: Random scatter around zero, no discernible pattern, no significant autocorrelation, and approximately normal distribution.</a:t>
            </a:r>
            <a:endParaRPr lang="en-US" altLang="en-US"/>
          </a:p>
          <a:p>
            <a:r>
              <a:rPr lang="en-US" altLang="en-US"/>
              <a:t>Poor residuals: Any systematic pattern, non-random oscillations, or significant autocorrelation. Skewed or non-normal histograms may also indicate a need for model refinement.</a:t>
            </a:r>
            <a:endParaRPr lang="en-US" altLang="en-US"/>
          </a:p>
          <a:p>
            <a:r>
              <a:rPr lang="en-US" altLang="en-US"/>
              <a:t>If your residuals are not showing random behavior, you may need to:</a:t>
            </a:r>
            <a:endParaRPr lang="en-US" altLang="en-US"/>
          </a:p>
          <a:p>
            <a:endParaRPr lang="en-US" altLang="en-US"/>
          </a:p>
          <a:p>
            <a:r>
              <a:rPr lang="en-US" altLang="en-US"/>
              <a:t>Adjust the model’s parameters (e.g., change the seasonal periods or the type of trend).</a:t>
            </a:r>
            <a:endParaRPr lang="en-US" altLang="en-US"/>
          </a:p>
          <a:p>
            <a:r>
              <a:rPr lang="en-US" altLang="en-US"/>
              <a:t>Add more complexity (e.g., additional lags or seasonal components).</a:t>
            </a:r>
            <a:endParaRPr lang="en-US" altLang="en-US"/>
          </a:p>
          <a:p>
            <a:r>
              <a:rPr lang="en-US" altLang="en-US"/>
              <a:t>Investigate if the data has some other underlying feature not captured by the model.</a:t>
            </a:r>
            <a:endParaRPr lang="en-US" altLang="en-US"/>
          </a:p>
          <a:p>
            <a:r>
              <a:rPr lang="en-US" altLang="en-US"/>
              <a:t>By interpreting the residuals carefully, you can determine whether your SARIMAX model is working effectively or if adjustments are needed.</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5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APPLIED LEARNING PRACTISE</a:t>
            </a:r>
            <a:endParaRPr lang="en-US" altLang="en-US" dirty="0"/>
          </a:p>
        </p:txBody>
      </p:sp>
      <p:sp>
        <p:nvSpPr>
          <p:cNvPr id="3" name="Subtitle 2"/>
          <p:cNvSpPr>
            <a:spLocks noGrp="1"/>
          </p:cNvSpPr>
          <p:nvPr>
            <p:ph type="subTitle" idx="1"/>
          </p:nvPr>
        </p:nvSpPr>
        <p:spPr/>
        <p:txBody>
          <a:bodyPr/>
          <a:lstStyle/>
          <a:p>
            <a:r>
              <a:rPr lang="en-US"/>
              <a:t>Tan Han Rong</a:t>
            </a:r>
            <a:endParaRPr lang="en-US"/>
          </a:p>
          <a:p>
            <a:r>
              <a:rPr lang="en-US"/>
              <a:t>Stocked up</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Contents Page</a:t>
            </a:r>
            <a:endParaRPr lang="en-US"/>
          </a:p>
        </p:txBody>
      </p:sp>
      <p:sp>
        <p:nvSpPr>
          <p:cNvPr id="3" name="Content Placeholder 2"/>
          <p:cNvSpPr>
            <a:spLocks noGrp="1"/>
          </p:cNvSpPr>
          <p:nvPr>
            <p:ph idx="1"/>
          </p:nvPr>
        </p:nvSpPr>
        <p:spPr/>
        <p:txBody>
          <a:bodyPr/>
          <a:p>
            <a:r>
              <a:rPr lang="en-US" sz="2800">
                <a:sym typeface="+mn-ea"/>
              </a:rPr>
              <a:t>Description of data</a:t>
            </a:r>
            <a:endParaRPr lang="en-US" sz="2800">
              <a:sym typeface="+mn-ea"/>
            </a:endParaRPr>
          </a:p>
          <a:p>
            <a:r>
              <a:rPr lang="en-US" sz="2800">
                <a:sym typeface="+mn-ea"/>
              </a:rPr>
              <a:t>Data Exploration</a:t>
            </a:r>
            <a:endParaRPr lang="en-US" sz="2800"/>
          </a:p>
          <a:p>
            <a:r>
              <a:rPr lang="en-US" sz="2800">
                <a:sym typeface="+mn-ea"/>
              </a:rPr>
              <a:t>Trendlines</a:t>
            </a:r>
            <a:endParaRPr lang="en-US" sz="2800">
              <a:sym typeface="+mn-ea"/>
            </a:endParaRPr>
          </a:p>
          <a:p>
            <a:r>
              <a:rPr lang="en-US" sz="2800">
                <a:sym typeface="+mn-ea"/>
              </a:rPr>
              <a:t>ADF Test</a:t>
            </a:r>
            <a:endParaRPr lang="en-US" sz="2800">
              <a:sym typeface="+mn-ea"/>
            </a:endParaRPr>
          </a:p>
          <a:p>
            <a:r>
              <a:rPr lang="en-US" sz="2800">
                <a:sym typeface="+mn-ea"/>
              </a:rPr>
              <a:t>Differencing</a:t>
            </a:r>
            <a:endParaRPr lang="en-US" sz="2800">
              <a:sym typeface="+mn-ea"/>
            </a:endParaRPr>
          </a:p>
          <a:p>
            <a:r>
              <a:rPr lang="en-US" altLang="en-US" sz="2800">
                <a:sym typeface="+mn-ea"/>
              </a:rPr>
              <a:t>Holt-Winters Exponential Smoothing model</a:t>
            </a:r>
            <a:endParaRPr lang="en-US" sz="2800">
              <a:sym typeface="+mn-ea"/>
            </a:endParaRPr>
          </a:p>
          <a:p>
            <a:r>
              <a:rPr lang="en-US" sz="2800">
                <a:sym typeface="+mn-ea"/>
              </a:rPr>
              <a:t>ARIMAX</a:t>
            </a:r>
            <a:endParaRPr lang="en-US" sz="2800">
              <a:sym typeface="+mn-ea"/>
            </a:endParaRPr>
          </a:p>
          <a:p>
            <a:r>
              <a:rPr lang="en-US" sz="2800">
                <a:sym typeface="+mn-ea"/>
              </a:rPr>
              <a:t>SARIMAX</a:t>
            </a:r>
            <a:endParaRPr lang="en-US" sz="2800">
              <a:sym typeface="+mn-ea"/>
            </a:endParaRPr>
          </a:p>
          <a:p>
            <a:r>
              <a:rPr lang="en-US" sz="2800">
                <a:sym typeface="+mn-ea"/>
              </a:rPr>
              <a:t>Params Tuning</a:t>
            </a:r>
            <a:endParaRPr lang="en-US" sz="2800">
              <a:sym typeface="+mn-ea"/>
            </a:endParaRPr>
          </a:p>
          <a:p>
            <a:r>
              <a:rPr lang="en-US" sz="2800">
                <a:sym typeface="+mn-ea"/>
              </a:rPr>
              <a:t>Conclusion</a:t>
            </a:r>
            <a:endParaRPr lang="en-US" sz="2800">
              <a:sym typeface="+mn-ea"/>
            </a:endParaRPr>
          </a:p>
          <a:p>
            <a:r>
              <a:rPr lang="en-US" sz="2800">
                <a:sym typeface="+mn-ea"/>
              </a:rPr>
              <a:t>Sources</a:t>
            </a:r>
            <a:endParaRPr lang="en-US" sz="2800"/>
          </a:p>
          <a:p>
            <a:endParaRPr lang="en-US"/>
          </a:p>
          <a:p>
            <a:endParaRPr lang="en-US"/>
          </a:p>
        </p:txBody>
      </p:sp>
      <p:sp>
        <p:nvSpPr>
          <p:cNvPr id="4" name="Rounded Rectangle 3"/>
          <p:cNvSpPr/>
          <p:nvPr/>
        </p:nvSpPr>
        <p:spPr>
          <a:xfrm>
            <a:off x="198755" y="1692910"/>
            <a:ext cx="7863205" cy="4037330"/>
          </a:xfrm>
          <a:prstGeom prst="roundRect">
            <a:avLst/>
          </a:prstGeom>
          <a:solidFill>
            <a:schemeClr val="accent5">
              <a:lumMod val="20000"/>
              <a:lumOff val="80000"/>
              <a:alpha val="20000"/>
            </a:schemeClr>
          </a:solidFill>
          <a:ln w="28575" cap="flat" cmpd="sng" algn="ctr">
            <a:solidFill>
              <a:srgbClr val="0070C0"/>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Description of data</a:t>
            </a:r>
            <a:endParaRPr lang="en-US"/>
          </a:p>
        </p:txBody>
      </p:sp>
      <p:sp>
        <p:nvSpPr>
          <p:cNvPr id="3" name="Content Placeholder 2"/>
          <p:cNvSpPr>
            <a:spLocks noGrp="1"/>
          </p:cNvSpPr>
          <p:nvPr>
            <p:ph idx="1"/>
          </p:nvPr>
        </p:nvSpPr>
        <p:spPr/>
        <p:txBody>
          <a:bodyPr/>
          <a:p>
            <a:r>
              <a:rPr lang="en-US"/>
              <a:t>Stock Price data from Politemall</a:t>
            </a:r>
            <a:r>
              <a:rPr lang="en-US" altLang="en-US"/>
              <a:t>. </a:t>
            </a:r>
            <a:endParaRPr lang="en-US" altLang="en-US"/>
          </a:p>
          <a:p>
            <a:r>
              <a:rPr lang="en-US" altLang="en-US"/>
              <a:t>1257 instances </a:t>
            </a:r>
            <a:endParaRPr lang="en-US" altLang="en-US"/>
          </a:p>
          <a:p>
            <a:r>
              <a:rPr lang="en-US" altLang="en-US"/>
              <a:t>Excluding the data, it belongs to 3 stocks, Amazon, Apple and DBS</a:t>
            </a:r>
            <a:endParaRPr lang="en-US" alt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a:t>
            </a:r>
            <a:endParaRPr lang="en-US"/>
          </a:p>
        </p:txBody>
      </p:sp>
      <p:pic>
        <p:nvPicPr>
          <p:cNvPr id="7" name="Content Placeholder 6"/>
          <p:cNvPicPr>
            <a:picLocks noChangeAspect="1"/>
          </p:cNvPicPr>
          <p:nvPr>
            <p:ph idx="1"/>
          </p:nvPr>
        </p:nvPicPr>
        <p:blipFill>
          <a:blip r:embed="rId1"/>
          <a:stretch>
            <a:fillRect/>
          </a:stretch>
        </p:blipFill>
        <p:spPr>
          <a:xfrm>
            <a:off x="897890" y="1104265"/>
            <a:ext cx="4657090" cy="4657090"/>
          </a:xfrm>
          <a:prstGeom prst="rect">
            <a:avLst/>
          </a:prstGeom>
        </p:spPr>
      </p:pic>
      <p:pic>
        <p:nvPicPr>
          <p:cNvPr id="8" name="Picture 7"/>
          <p:cNvPicPr>
            <a:picLocks noChangeAspect="1"/>
          </p:cNvPicPr>
          <p:nvPr/>
        </p:nvPicPr>
        <p:blipFill>
          <a:blip r:embed="rId2"/>
          <a:stretch>
            <a:fillRect/>
          </a:stretch>
        </p:blipFill>
        <p:spPr>
          <a:xfrm>
            <a:off x="6043295" y="1104265"/>
            <a:ext cx="3251200" cy="2040255"/>
          </a:xfrm>
          <a:prstGeom prst="rect">
            <a:avLst/>
          </a:prstGeom>
        </p:spPr>
      </p:pic>
      <p:sp>
        <p:nvSpPr>
          <p:cNvPr id="9" name="Text Box 8"/>
          <p:cNvSpPr txBox="1"/>
          <p:nvPr/>
        </p:nvSpPr>
        <p:spPr>
          <a:xfrm>
            <a:off x="6043295" y="3348355"/>
            <a:ext cx="4064000" cy="368300"/>
          </a:xfrm>
          <a:prstGeom prst="rect">
            <a:avLst/>
          </a:prstGeom>
          <a:noFill/>
        </p:spPr>
        <p:txBody>
          <a:bodyPr wrap="square" rtlCol="0">
            <a:spAutoFit/>
          </a:bodyPr>
          <a:p>
            <a:r>
              <a:rPr lang="en-US"/>
              <a:t>0 Missing values.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Data Exploration (small hiccup)</a:t>
            </a:r>
            <a:endParaRPr lang="en-US"/>
          </a:p>
        </p:txBody>
      </p:sp>
      <p:pic>
        <p:nvPicPr>
          <p:cNvPr id="6" name="Content Placeholder 5"/>
          <p:cNvPicPr>
            <a:picLocks noChangeAspect="1"/>
          </p:cNvPicPr>
          <p:nvPr>
            <p:ph idx="1"/>
          </p:nvPr>
        </p:nvPicPr>
        <p:blipFill>
          <a:blip r:embed="rId1"/>
          <a:stretch>
            <a:fillRect/>
          </a:stretch>
        </p:blipFill>
        <p:spPr>
          <a:xfrm>
            <a:off x="779780" y="1065530"/>
            <a:ext cx="4225290" cy="5450840"/>
          </a:xfrm>
          <a:prstGeom prst="rect">
            <a:avLst/>
          </a:prstGeom>
        </p:spPr>
      </p:pic>
      <p:cxnSp>
        <p:nvCxnSpPr>
          <p:cNvPr id="7" name="Straight Arrow Connector 6"/>
          <p:cNvCxnSpPr/>
          <p:nvPr/>
        </p:nvCxnSpPr>
        <p:spPr>
          <a:xfrm flipH="1" flipV="1">
            <a:off x="4765040" y="5438775"/>
            <a:ext cx="1661795" cy="7620"/>
          </a:xfrm>
          <a:prstGeom prst="straightConnector1">
            <a:avLst/>
          </a:prstGeom>
          <a:ln w="76200">
            <a:solidFill>
              <a:srgbClr val="FF0000"/>
            </a:solidFill>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8" name="Text Box 7"/>
          <p:cNvSpPr txBox="1"/>
          <p:nvPr/>
        </p:nvSpPr>
        <p:spPr>
          <a:xfrm>
            <a:off x="6641465" y="5146040"/>
            <a:ext cx="4064000" cy="922020"/>
          </a:xfrm>
          <a:prstGeom prst="rect">
            <a:avLst/>
          </a:prstGeom>
          <a:noFill/>
        </p:spPr>
        <p:txBody>
          <a:bodyPr wrap="square" rtlCol="0">
            <a:spAutoFit/>
          </a:bodyPr>
          <a:p>
            <a:r>
              <a:rPr lang="en-US"/>
              <a:t>Was initially unable to define ‘Date’. Likely due to my own error when trying to turn the Date into the index.</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Picture 12"/>
          <p:cNvPicPr>
            <a:picLocks noChangeAspect="1"/>
          </p:cNvPicPr>
          <p:nvPr/>
        </p:nvPicPr>
        <p:blipFill>
          <a:blip r:embed="rId1"/>
          <a:stretch>
            <a:fillRect/>
          </a:stretch>
        </p:blipFill>
        <p:spPr>
          <a:xfrm>
            <a:off x="5436235" y="3298190"/>
            <a:ext cx="6275070" cy="3380740"/>
          </a:xfrm>
          <a:prstGeom prst="rect">
            <a:avLst/>
          </a:prstGeom>
        </p:spPr>
      </p:pic>
      <p:sp>
        <p:nvSpPr>
          <p:cNvPr id="2" name="Title 1"/>
          <p:cNvSpPr>
            <a:spLocks noGrp="1"/>
          </p:cNvSpPr>
          <p:nvPr>
            <p:ph type="title"/>
          </p:nvPr>
        </p:nvSpPr>
        <p:spPr/>
        <p:txBody>
          <a:bodyPr/>
          <a:p>
            <a:r>
              <a:rPr lang="en-US"/>
              <a:t>Start of code</a:t>
            </a:r>
            <a:endParaRPr lang="en-US"/>
          </a:p>
        </p:txBody>
      </p:sp>
      <p:pic>
        <p:nvPicPr>
          <p:cNvPr id="10" name="Content Placeholder 9"/>
          <p:cNvPicPr>
            <a:picLocks noChangeAspect="1"/>
          </p:cNvPicPr>
          <p:nvPr>
            <p:ph idx="1"/>
          </p:nvPr>
        </p:nvPicPr>
        <p:blipFill>
          <a:blip r:embed="rId2"/>
          <a:stretch>
            <a:fillRect/>
          </a:stretch>
        </p:blipFill>
        <p:spPr>
          <a:xfrm>
            <a:off x="609600" y="1125855"/>
            <a:ext cx="3819525" cy="1447800"/>
          </a:xfrm>
          <a:prstGeom prst="rect">
            <a:avLst/>
          </a:prstGeom>
        </p:spPr>
      </p:pic>
      <p:pic>
        <p:nvPicPr>
          <p:cNvPr id="11" name="Picture 10"/>
          <p:cNvPicPr>
            <a:picLocks noChangeAspect="1"/>
          </p:cNvPicPr>
          <p:nvPr/>
        </p:nvPicPr>
        <p:blipFill>
          <a:blip r:embed="rId3"/>
          <a:stretch>
            <a:fillRect/>
          </a:stretch>
        </p:blipFill>
        <p:spPr>
          <a:xfrm>
            <a:off x="609600" y="2674620"/>
            <a:ext cx="4838700" cy="2619375"/>
          </a:xfrm>
          <a:prstGeom prst="rect">
            <a:avLst/>
          </a:prstGeom>
        </p:spPr>
      </p:pic>
      <p:pic>
        <p:nvPicPr>
          <p:cNvPr id="12" name="Picture 11"/>
          <p:cNvPicPr>
            <a:picLocks noChangeAspect="1"/>
          </p:cNvPicPr>
          <p:nvPr/>
        </p:nvPicPr>
        <p:blipFill>
          <a:blip r:embed="rId4"/>
          <a:stretch>
            <a:fillRect/>
          </a:stretch>
        </p:blipFill>
        <p:spPr>
          <a:xfrm>
            <a:off x="6621780" y="1066165"/>
            <a:ext cx="3314700" cy="2143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 name="Picture 12"/>
          <p:cNvPicPr>
            <a:picLocks noChangeAspect="1"/>
          </p:cNvPicPr>
          <p:nvPr/>
        </p:nvPicPr>
        <p:blipFill>
          <a:blip r:embed="rId1"/>
          <a:stretch>
            <a:fillRect/>
          </a:stretch>
        </p:blipFill>
        <p:spPr>
          <a:xfrm>
            <a:off x="5436235" y="3253740"/>
            <a:ext cx="6275070" cy="3380740"/>
          </a:xfrm>
          <a:prstGeom prst="rect">
            <a:avLst/>
          </a:prstGeom>
        </p:spPr>
      </p:pic>
      <p:sp>
        <p:nvSpPr>
          <p:cNvPr id="2" name="Title 1"/>
          <p:cNvSpPr>
            <a:spLocks noGrp="1"/>
          </p:cNvSpPr>
          <p:nvPr>
            <p:ph type="title"/>
          </p:nvPr>
        </p:nvSpPr>
        <p:spPr/>
        <p:txBody>
          <a:bodyPr/>
          <a:p>
            <a:r>
              <a:rPr lang="en-US">
                <a:sym typeface="+mn-ea"/>
              </a:rPr>
              <a:t>Data Exploration</a:t>
            </a:r>
            <a:endParaRPr lang="en-US"/>
          </a:p>
        </p:txBody>
      </p:sp>
      <p:pic>
        <p:nvPicPr>
          <p:cNvPr id="8" name="Picture 7"/>
          <p:cNvPicPr>
            <a:picLocks noChangeAspect="1"/>
          </p:cNvPicPr>
          <p:nvPr/>
        </p:nvPicPr>
        <p:blipFill>
          <a:blip r:embed="rId2"/>
          <a:stretch>
            <a:fillRect/>
          </a:stretch>
        </p:blipFill>
        <p:spPr>
          <a:xfrm>
            <a:off x="609600" y="984885"/>
            <a:ext cx="4133850" cy="2028825"/>
          </a:xfrm>
          <a:prstGeom prst="rect">
            <a:avLst/>
          </a:prstGeom>
        </p:spPr>
      </p:pic>
      <p:pic>
        <p:nvPicPr>
          <p:cNvPr id="10" name="Picture 9"/>
          <p:cNvPicPr>
            <a:picLocks noChangeAspect="1"/>
          </p:cNvPicPr>
          <p:nvPr/>
        </p:nvPicPr>
        <p:blipFill>
          <a:blip r:embed="rId3"/>
          <a:stretch>
            <a:fillRect/>
          </a:stretch>
        </p:blipFill>
        <p:spPr>
          <a:xfrm>
            <a:off x="7396480" y="95250"/>
            <a:ext cx="4314825" cy="3390900"/>
          </a:xfrm>
          <a:prstGeom prst="rect">
            <a:avLst/>
          </a:prstGeom>
        </p:spPr>
      </p:pic>
      <p:pic>
        <p:nvPicPr>
          <p:cNvPr id="9" name="Picture 8"/>
          <p:cNvPicPr>
            <a:picLocks noChangeAspect="1"/>
          </p:cNvPicPr>
          <p:nvPr/>
        </p:nvPicPr>
        <p:blipFill>
          <a:blip r:embed="rId4"/>
          <a:stretch>
            <a:fillRect/>
          </a:stretch>
        </p:blipFill>
        <p:spPr>
          <a:xfrm>
            <a:off x="609600" y="3225165"/>
            <a:ext cx="5724525" cy="1209675"/>
          </a:xfrm>
          <a:prstGeom prst="rect">
            <a:avLst/>
          </a:prstGeom>
        </p:spPr>
      </p:pic>
      <p:sp>
        <p:nvSpPr>
          <p:cNvPr id="11" name="Text Box 10"/>
          <p:cNvSpPr txBox="1"/>
          <p:nvPr/>
        </p:nvSpPr>
        <p:spPr>
          <a:xfrm>
            <a:off x="5549265" y="836930"/>
            <a:ext cx="4064000" cy="368300"/>
          </a:xfrm>
          <a:prstGeom prst="rect">
            <a:avLst/>
          </a:prstGeom>
          <a:noFill/>
        </p:spPr>
        <p:txBody>
          <a:bodyPr wrap="square" rtlCol="0">
            <a:spAutoFit/>
          </a:bodyPr>
          <a:p>
            <a:r>
              <a:rPr lang="en-US"/>
              <a:t>Monthly Average</a:t>
            </a:r>
            <a:endParaRPr lang="en-US"/>
          </a:p>
        </p:txBody>
      </p:sp>
      <p:sp>
        <p:nvSpPr>
          <p:cNvPr id="12" name="Text Box 11"/>
          <p:cNvSpPr txBox="1"/>
          <p:nvPr/>
        </p:nvSpPr>
        <p:spPr>
          <a:xfrm>
            <a:off x="2560320" y="5960110"/>
            <a:ext cx="4064000" cy="368300"/>
          </a:xfrm>
          <a:prstGeom prst="rect">
            <a:avLst/>
          </a:prstGeom>
          <a:noFill/>
        </p:spPr>
        <p:txBody>
          <a:bodyPr wrap="square" rtlCol="0">
            <a:spAutoFit/>
          </a:bodyPr>
          <a:p>
            <a:r>
              <a:rPr lang="en-US"/>
              <a:t>Compared with Original data</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Trendlines</a:t>
            </a:r>
            <a:endParaRPr lang="en-US"/>
          </a:p>
        </p:txBody>
      </p:sp>
      <p:pic>
        <p:nvPicPr>
          <p:cNvPr id="11" name="Content Placeholder 10"/>
          <p:cNvPicPr>
            <a:picLocks noChangeAspect="1"/>
          </p:cNvPicPr>
          <p:nvPr>
            <p:ph idx="1"/>
          </p:nvPr>
        </p:nvPicPr>
        <p:blipFill>
          <a:blip r:embed="rId1"/>
          <a:stretch>
            <a:fillRect/>
          </a:stretch>
        </p:blipFill>
        <p:spPr>
          <a:xfrm>
            <a:off x="609600" y="939800"/>
            <a:ext cx="6267450" cy="3733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609600" y="882650"/>
            <a:ext cx="5337810" cy="2937510"/>
          </a:xfrm>
          <a:prstGeom prst="rect">
            <a:avLst/>
          </a:prstGeom>
        </p:spPr>
      </p:pic>
      <p:sp>
        <p:nvSpPr>
          <p:cNvPr id="2" name="Title 1"/>
          <p:cNvSpPr>
            <a:spLocks noGrp="1"/>
          </p:cNvSpPr>
          <p:nvPr>
            <p:ph type="title"/>
          </p:nvPr>
        </p:nvSpPr>
        <p:spPr/>
        <p:txBody>
          <a:bodyPr/>
          <a:p>
            <a:r>
              <a:rPr lang="en-US">
                <a:sym typeface="+mn-ea"/>
              </a:rPr>
              <a:t>Trendlines</a:t>
            </a:r>
            <a:endParaRPr lang="en-US"/>
          </a:p>
        </p:txBody>
      </p:sp>
      <p:pic>
        <p:nvPicPr>
          <p:cNvPr id="5" name="Content Placeholder 4"/>
          <p:cNvPicPr>
            <a:picLocks noChangeAspect="1"/>
          </p:cNvPicPr>
          <p:nvPr>
            <p:ph idx="1"/>
          </p:nvPr>
        </p:nvPicPr>
        <p:blipFill>
          <a:blip r:embed="rId2"/>
          <a:stretch>
            <a:fillRect/>
          </a:stretch>
        </p:blipFill>
        <p:spPr>
          <a:xfrm>
            <a:off x="6209030" y="882650"/>
            <a:ext cx="5373370" cy="2952115"/>
          </a:xfrm>
          <a:prstGeom prst="rect">
            <a:avLst/>
          </a:prstGeom>
        </p:spPr>
      </p:pic>
      <p:pic>
        <p:nvPicPr>
          <p:cNvPr id="7" name="Picture 6"/>
          <p:cNvPicPr>
            <a:picLocks noChangeAspect="1"/>
          </p:cNvPicPr>
          <p:nvPr/>
        </p:nvPicPr>
        <p:blipFill>
          <a:blip r:embed="rId3"/>
          <a:stretch>
            <a:fillRect/>
          </a:stretch>
        </p:blipFill>
        <p:spPr>
          <a:xfrm>
            <a:off x="609600" y="3725545"/>
            <a:ext cx="5337810" cy="29133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ADF Test</a:t>
            </a:r>
            <a:endParaRPr lang="en-US"/>
          </a:p>
        </p:txBody>
      </p:sp>
      <p:pic>
        <p:nvPicPr>
          <p:cNvPr id="11" name="Content Placeholder 10"/>
          <p:cNvPicPr>
            <a:picLocks noChangeAspect="1"/>
          </p:cNvPicPr>
          <p:nvPr>
            <p:ph idx="1"/>
          </p:nvPr>
        </p:nvPicPr>
        <p:blipFill>
          <a:blip r:embed="rId1"/>
          <a:stretch>
            <a:fillRect/>
          </a:stretch>
        </p:blipFill>
        <p:spPr>
          <a:xfrm>
            <a:off x="609600" y="1249680"/>
            <a:ext cx="7393940" cy="2318385"/>
          </a:xfrm>
          <a:prstGeom prst="rect">
            <a:avLst/>
          </a:prstGeom>
        </p:spPr>
      </p:pic>
      <p:pic>
        <p:nvPicPr>
          <p:cNvPr id="12" name="Picture 11"/>
          <p:cNvPicPr>
            <a:picLocks noChangeAspect="1"/>
          </p:cNvPicPr>
          <p:nvPr/>
        </p:nvPicPr>
        <p:blipFill>
          <a:blip r:embed="rId2"/>
          <a:stretch>
            <a:fillRect/>
          </a:stretch>
        </p:blipFill>
        <p:spPr>
          <a:xfrm>
            <a:off x="609600" y="3726815"/>
            <a:ext cx="5602605" cy="24320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Differencing</a:t>
            </a:r>
            <a:endParaRPr lang="en-US"/>
          </a:p>
        </p:txBody>
      </p:sp>
      <p:pic>
        <p:nvPicPr>
          <p:cNvPr id="15" name="Content Placeholder 14"/>
          <p:cNvPicPr>
            <a:picLocks noChangeAspect="1"/>
          </p:cNvPicPr>
          <p:nvPr>
            <p:ph idx="1"/>
          </p:nvPr>
        </p:nvPicPr>
        <p:blipFill>
          <a:blip r:embed="rId1"/>
          <a:stretch>
            <a:fillRect/>
          </a:stretch>
        </p:blipFill>
        <p:spPr>
          <a:xfrm>
            <a:off x="764540" y="1123315"/>
            <a:ext cx="8092440" cy="458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Differencing</a:t>
            </a:r>
            <a:endParaRPr lang="en-US"/>
          </a:p>
        </p:txBody>
      </p:sp>
      <p:pic>
        <p:nvPicPr>
          <p:cNvPr id="13" name="Content Placeholder 12"/>
          <p:cNvPicPr>
            <a:picLocks noChangeAspect="1"/>
          </p:cNvPicPr>
          <p:nvPr>
            <p:ph idx="1"/>
          </p:nvPr>
        </p:nvPicPr>
        <p:blipFill>
          <a:blip r:embed="rId1"/>
          <a:stretch>
            <a:fillRect/>
          </a:stretch>
        </p:blipFill>
        <p:spPr>
          <a:xfrm>
            <a:off x="609600" y="1256665"/>
            <a:ext cx="3371850" cy="1076325"/>
          </a:xfrm>
          <a:prstGeom prst="rect">
            <a:avLst/>
          </a:prstGeom>
        </p:spPr>
      </p:pic>
      <p:pic>
        <p:nvPicPr>
          <p:cNvPr id="14" name="Picture 13"/>
          <p:cNvPicPr>
            <a:picLocks noChangeAspect="1"/>
          </p:cNvPicPr>
          <p:nvPr/>
        </p:nvPicPr>
        <p:blipFill>
          <a:blip r:embed="rId2"/>
          <a:stretch>
            <a:fillRect/>
          </a:stretch>
        </p:blipFill>
        <p:spPr>
          <a:xfrm>
            <a:off x="490220" y="2680335"/>
            <a:ext cx="5436235" cy="3200400"/>
          </a:xfrm>
          <a:prstGeom prst="rect">
            <a:avLst/>
          </a:prstGeom>
        </p:spPr>
      </p:pic>
      <p:pic>
        <p:nvPicPr>
          <p:cNvPr id="15" name="Picture 14"/>
          <p:cNvPicPr>
            <a:picLocks noChangeAspect="1"/>
          </p:cNvPicPr>
          <p:nvPr/>
        </p:nvPicPr>
        <p:blipFill>
          <a:blip r:embed="rId3"/>
          <a:stretch>
            <a:fillRect/>
          </a:stretch>
        </p:blipFill>
        <p:spPr>
          <a:xfrm>
            <a:off x="6397625" y="2679700"/>
            <a:ext cx="5382895" cy="32010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Holt-Winters Exponential Smoothing model</a:t>
            </a:r>
            <a:endParaRPr lang="en-US" altLang="en-US"/>
          </a:p>
        </p:txBody>
      </p:sp>
      <p:pic>
        <p:nvPicPr>
          <p:cNvPr id="4" name="Content Placeholder 3"/>
          <p:cNvPicPr>
            <a:picLocks noChangeAspect="1"/>
          </p:cNvPicPr>
          <p:nvPr>
            <p:ph idx="1"/>
          </p:nvPr>
        </p:nvPicPr>
        <p:blipFill>
          <a:blip r:embed="rId1"/>
          <a:stretch>
            <a:fillRect/>
          </a:stretch>
        </p:blipFill>
        <p:spPr>
          <a:xfrm>
            <a:off x="609600" y="1149985"/>
            <a:ext cx="5429250" cy="2162175"/>
          </a:xfrm>
          <a:prstGeom prst="rect">
            <a:avLst/>
          </a:prstGeom>
        </p:spPr>
      </p:pic>
      <p:pic>
        <p:nvPicPr>
          <p:cNvPr id="5" name="Picture 4"/>
          <p:cNvPicPr>
            <a:picLocks noChangeAspect="1"/>
          </p:cNvPicPr>
          <p:nvPr/>
        </p:nvPicPr>
        <p:blipFill>
          <a:blip r:embed="rId2"/>
          <a:stretch>
            <a:fillRect/>
          </a:stretch>
        </p:blipFill>
        <p:spPr>
          <a:xfrm>
            <a:off x="4938395" y="2061210"/>
            <a:ext cx="6515100" cy="4429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Holt-Winters Exponential Smoothing model (Apple)</a:t>
            </a:r>
            <a:endParaRPr lang="en-US"/>
          </a:p>
        </p:txBody>
      </p:sp>
      <p:pic>
        <p:nvPicPr>
          <p:cNvPr id="4" name="Content Placeholder 3"/>
          <p:cNvPicPr>
            <a:picLocks noChangeAspect="1"/>
          </p:cNvPicPr>
          <p:nvPr>
            <p:ph idx="1"/>
          </p:nvPr>
        </p:nvPicPr>
        <p:blipFill>
          <a:blip r:embed="rId1"/>
          <a:stretch>
            <a:fillRect/>
          </a:stretch>
        </p:blipFill>
        <p:spPr>
          <a:xfrm>
            <a:off x="609600" y="1292225"/>
            <a:ext cx="10965180" cy="45980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Holt-Winters Exponential Smoothing model (AZ)</a:t>
            </a:r>
            <a:endParaRPr lang="en-US"/>
          </a:p>
        </p:txBody>
      </p:sp>
      <p:pic>
        <p:nvPicPr>
          <p:cNvPr id="4" name="Content Placeholder 3"/>
          <p:cNvPicPr>
            <a:picLocks noChangeAspect="1"/>
          </p:cNvPicPr>
          <p:nvPr>
            <p:ph idx="1"/>
          </p:nvPr>
        </p:nvPicPr>
        <p:blipFill>
          <a:blip r:embed="rId1"/>
          <a:stretch>
            <a:fillRect/>
          </a:stretch>
        </p:blipFill>
        <p:spPr>
          <a:xfrm>
            <a:off x="609600" y="1236980"/>
            <a:ext cx="11000105" cy="45891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Holt-Winters Exponential Smoothing model (DBS)</a:t>
            </a:r>
            <a:endParaRPr lang="en-US"/>
          </a:p>
        </p:txBody>
      </p:sp>
      <p:pic>
        <p:nvPicPr>
          <p:cNvPr id="4" name="Content Placeholder 3"/>
          <p:cNvPicPr>
            <a:picLocks noChangeAspect="1"/>
          </p:cNvPicPr>
          <p:nvPr>
            <p:ph idx="1"/>
          </p:nvPr>
        </p:nvPicPr>
        <p:blipFill>
          <a:blip r:embed="rId1"/>
          <a:stretch>
            <a:fillRect/>
          </a:stretch>
        </p:blipFill>
        <p:spPr>
          <a:xfrm>
            <a:off x="609600" y="1158240"/>
            <a:ext cx="10927715" cy="4229735"/>
          </a:xfrm>
          <a:prstGeom prst="rect">
            <a:avLst/>
          </a:prstGeom>
        </p:spPr>
      </p:pic>
      <p:pic>
        <p:nvPicPr>
          <p:cNvPr id="6" name="Picture 5"/>
          <p:cNvPicPr>
            <a:picLocks noChangeAspect="1"/>
          </p:cNvPicPr>
          <p:nvPr/>
        </p:nvPicPr>
        <p:blipFill>
          <a:blip r:embed="rId2"/>
          <a:stretch>
            <a:fillRect/>
          </a:stretch>
        </p:blipFill>
        <p:spPr>
          <a:xfrm>
            <a:off x="609600" y="5387975"/>
            <a:ext cx="1982470" cy="2768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MAPE score (HWES)</a:t>
            </a:r>
            <a:endParaRPr lang="en-US"/>
          </a:p>
        </p:txBody>
      </p:sp>
      <p:pic>
        <p:nvPicPr>
          <p:cNvPr id="4" name="Content Placeholder 3"/>
          <p:cNvPicPr>
            <a:picLocks noChangeAspect="1"/>
          </p:cNvPicPr>
          <p:nvPr>
            <p:ph idx="1"/>
          </p:nvPr>
        </p:nvPicPr>
        <p:blipFill>
          <a:blip r:embed="rId1"/>
          <a:stretch>
            <a:fillRect/>
          </a:stretch>
        </p:blipFill>
        <p:spPr>
          <a:xfrm>
            <a:off x="609600" y="1218565"/>
            <a:ext cx="10960100" cy="37223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ARIMA</a:t>
            </a:r>
            <a:endParaRPr lang="en-US"/>
          </a:p>
        </p:txBody>
      </p:sp>
      <p:pic>
        <p:nvPicPr>
          <p:cNvPr id="4" name="Content Placeholder 3"/>
          <p:cNvPicPr>
            <a:picLocks noChangeAspect="1"/>
          </p:cNvPicPr>
          <p:nvPr>
            <p:ph idx="1"/>
          </p:nvPr>
        </p:nvPicPr>
        <p:blipFill>
          <a:blip r:embed="rId1"/>
          <a:stretch>
            <a:fillRect/>
          </a:stretch>
        </p:blipFill>
        <p:spPr>
          <a:xfrm>
            <a:off x="609600" y="1134745"/>
            <a:ext cx="4248150" cy="2733675"/>
          </a:xfrm>
          <a:prstGeom prst="rect">
            <a:avLst/>
          </a:prstGeom>
        </p:spPr>
      </p:pic>
      <p:pic>
        <p:nvPicPr>
          <p:cNvPr id="5" name="Picture 4"/>
          <p:cNvPicPr>
            <a:picLocks noChangeAspect="1"/>
          </p:cNvPicPr>
          <p:nvPr/>
        </p:nvPicPr>
        <p:blipFill>
          <a:blip r:embed="rId2"/>
          <a:stretch>
            <a:fillRect/>
          </a:stretch>
        </p:blipFill>
        <p:spPr>
          <a:xfrm>
            <a:off x="5132070" y="1134745"/>
            <a:ext cx="6057900" cy="53625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ARIMA (Apple)</a:t>
            </a:r>
            <a:endParaRPr lang="en-US"/>
          </a:p>
        </p:txBody>
      </p:sp>
      <p:pic>
        <p:nvPicPr>
          <p:cNvPr id="4" name="Content Placeholder 3"/>
          <p:cNvPicPr>
            <a:picLocks noChangeAspect="1"/>
          </p:cNvPicPr>
          <p:nvPr>
            <p:ph idx="1"/>
          </p:nvPr>
        </p:nvPicPr>
        <p:blipFill>
          <a:blip r:embed="rId1"/>
          <a:stretch>
            <a:fillRect/>
          </a:stretch>
        </p:blipFill>
        <p:spPr>
          <a:xfrm>
            <a:off x="609600" y="1213485"/>
            <a:ext cx="4657725" cy="1419225"/>
          </a:xfrm>
          <a:prstGeom prst="rect">
            <a:avLst/>
          </a:prstGeom>
        </p:spPr>
      </p:pic>
      <p:pic>
        <p:nvPicPr>
          <p:cNvPr id="5" name="Picture 4"/>
          <p:cNvPicPr>
            <a:picLocks noChangeAspect="1"/>
          </p:cNvPicPr>
          <p:nvPr/>
        </p:nvPicPr>
        <p:blipFill>
          <a:blip r:embed="rId2"/>
          <a:stretch>
            <a:fillRect/>
          </a:stretch>
        </p:blipFill>
        <p:spPr>
          <a:xfrm>
            <a:off x="609600" y="2632710"/>
            <a:ext cx="3448050" cy="333375"/>
          </a:xfrm>
          <a:prstGeom prst="rect">
            <a:avLst/>
          </a:prstGeom>
        </p:spPr>
      </p:pic>
      <p:pic>
        <p:nvPicPr>
          <p:cNvPr id="6" name="Picture 5"/>
          <p:cNvPicPr>
            <a:picLocks noChangeAspect="1"/>
          </p:cNvPicPr>
          <p:nvPr/>
        </p:nvPicPr>
        <p:blipFill>
          <a:blip r:embed="rId3"/>
          <a:stretch>
            <a:fillRect/>
          </a:stretch>
        </p:blipFill>
        <p:spPr>
          <a:xfrm>
            <a:off x="5770245" y="1213485"/>
            <a:ext cx="6191250" cy="1485900"/>
          </a:xfrm>
          <a:prstGeom prst="rect">
            <a:avLst/>
          </a:prstGeom>
        </p:spPr>
      </p:pic>
      <p:pic>
        <p:nvPicPr>
          <p:cNvPr id="7" name="Picture 6"/>
          <p:cNvPicPr>
            <a:picLocks noChangeAspect="1"/>
          </p:cNvPicPr>
          <p:nvPr/>
        </p:nvPicPr>
        <p:blipFill>
          <a:blip r:embed="rId4"/>
          <a:stretch>
            <a:fillRect/>
          </a:stretch>
        </p:blipFill>
        <p:spPr>
          <a:xfrm>
            <a:off x="609600" y="2884170"/>
            <a:ext cx="7096125" cy="38576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ARIMA (AZ)</a:t>
            </a:r>
            <a:endParaRPr lang="en-US"/>
          </a:p>
        </p:txBody>
      </p:sp>
      <p:pic>
        <p:nvPicPr>
          <p:cNvPr id="4" name="Content Placeholder 3"/>
          <p:cNvPicPr>
            <a:picLocks noChangeAspect="1"/>
          </p:cNvPicPr>
          <p:nvPr>
            <p:ph idx="1"/>
          </p:nvPr>
        </p:nvPicPr>
        <p:blipFill>
          <a:blip r:embed="rId1"/>
          <a:stretch>
            <a:fillRect/>
          </a:stretch>
        </p:blipFill>
        <p:spPr>
          <a:xfrm>
            <a:off x="609600" y="1164590"/>
            <a:ext cx="4676775" cy="1238250"/>
          </a:xfrm>
          <a:prstGeom prst="rect">
            <a:avLst/>
          </a:prstGeom>
        </p:spPr>
      </p:pic>
      <p:pic>
        <p:nvPicPr>
          <p:cNvPr id="5" name="Picture 4"/>
          <p:cNvPicPr>
            <a:picLocks noChangeAspect="1"/>
          </p:cNvPicPr>
          <p:nvPr/>
        </p:nvPicPr>
        <p:blipFill>
          <a:blip r:embed="rId2"/>
          <a:stretch>
            <a:fillRect/>
          </a:stretch>
        </p:blipFill>
        <p:spPr>
          <a:xfrm>
            <a:off x="609600" y="2402840"/>
            <a:ext cx="3533775" cy="295275"/>
          </a:xfrm>
          <a:prstGeom prst="rect">
            <a:avLst/>
          </a:prstGeom>
        </p:spPr>
      </p:pic>
      <p:pic>
        <p:nvPicPr>
          <p:cNvPr id="6" name="Picture 5"/>
          <p:cNvPicPr>
            <a:picLocks noChangeAspect="1"/>
          </p:cNvPicPr>
          <p:nvPr/>
        </p:nvPicPr>
        <p:blipFill>
          <a:blip r:embed="rId3"/>
          <a:stretch>
            <a:fillRect/>
          </a:stretch>
        </p:blipFill>
        <p:spPr>
          <a:xfrm>
            <a:off x="609600" y="2698115"/>
            <a:ext cx="7115175" cy="38671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ARIMA (DBS)</a:t>
            </a:r>
            <a:endParaRPr lang="en-US"/>
          </a:p>
        </p:txBody>
      </p:sp>
      <p:pic>
        <p:nvPicPr>
          <p:cNvPr id="4" name="Content Placeholder 3"/>
          <p:cNvPicPr>
            <a:picLocks noChangeAspect="1"/>
          </p:cNvPicPr>
          <p:nvPr>
            <p:ph idx="1"/>
          </p:nvPr>
        </p:nvPicPr>
        <p:blipFill>
          <a:blip r:embed="rId1"/>
          <a:stretch>
            <a:fillRect/>
          </a:stretch>
        </p:blipFill>
        <p:spPr>
          <a:xfrm>
            <a:off x="609600" y="1311910"/>
            <a:ext cx="4686300" cy="1200150"/>
          </a:xfrm>
          <a:prstGeom prst="rect">
            <a:avLst/>
          </a:prstGeom>
        </p:spPr>
      </p:pic>
      <p:pic>
        <p:nvPicPr>
          <p:cNvPr id="5" name="Picture 4"/>
          <p:cNvPicPr>
            <a:picLocks noChangeAspect="1"/>
          </p:cNvPicPr>
          <p:nvPr/>
        </p:nvPicPr>
        <p:blipFill>
          <a:blip r:embed="rId2"/>
          <a:stretch>
            <a:fillRect/>
          </a:stretch>
        </p:blipFill>
        <p:spPr>
          <a:xfrm>
            <a:off x="609600" y="2512060"/>
            <a:ext cx="3381375" cy="266700"/>
          </a:xfrm>
          <a:prstGeom prst="rect">
            <a:avLst/>
          </a:prstGeom>
        </p:spPr>
      </p:pic>
      <p:pic>
        <p:nvPicPr>
          <p:cNvPr id="6" name="Picture 5"/>
          <p:cNvPicPr>
            <a:picLocks noChangeAspect="1"/>
          </p:cNvPicPr>
          <p:nvPr/>
        </p:nvPicPr>
        <p:blipFill>
          <a:blip r:embed="rId3"/>
          <a:stretch>
            <a:fillRect/>
          </a:stretch>
        </p:blipFill>
        <p:spPr>
          <a:xfrm>
            <a:off x="609600" y="2778760"/>
            <a:ext cx="7172325" cy="38195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SARIMAX</a:t>
            </a:r>
            <a:endParaRPr lang="en-US"/>
          </a:p>
        </p:txBody>
      </p:sp>
      <p:pic>
        <p:nvPicPr>
          <p:cNvPr id="4" name="Content Placeholder 3"/>
          <p:cNvPicPr>
            <a:picLocks noChangeAspect="1"/>
          </p:cNvPicPr>
          <p:nvPr>
            <p:ph idx="1"/>
          </p:nvPr>
        </p:nvPicPr>
        <p:blipFill>
          <a:blip r:embed="rId1"/>
          <a:stretch>
            <a:fillRect/>
          </a:stretch>
        </p:blipFill>
        <p:spPr>
          <a:xfrm>
            <a:off x="609600" y="1027430"/>
            <a:ext cx="4105275" cy="2466975"/>
          </a:xfrm>
          <a:prstGeom prst="rect">
            <a:avLst/>
          </a:prstGeom>
        </p:spPr>
      </p:pic>
      <p:pic>
        <p:nvPicPr>
          <p:cNvPr id="5" name="Picture 4"/>
          <p:cNvPicPr>
            <a:picLocks noChangeAspect="1"/>
          </p:cNvPicPr>
          <p:nvPr/>
        </p:nvPicPr>
        <p:blipFill>
          <a:blip r:embed="rId2"/>
          <a:stretch>
            <a:fillRect/>
          </a:stretch>
        </p:blipFill>
        <p:spPr>
          <a:xfrm>
            <a:off x="5250815" y="1027430"/>
            <a:ext cx="5819775" cy="55340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SARIMAX (Apple)</a:t>
            </a:r>
            <a:endParaRPr lang="en-US"/>
          </a:p>
        </p:txBody>
      </p:sp>
      <p:pic>
        <p:nvPicPr>
          <p:cNvPr id="4" name="Content Placeholder 3"/>
          <p:cNvPicPr>
            <a:picLocks noChangeAspect="1"/>
          </p:cNvPicPr>
          <p:nvPr>
            <p:ph idx="1"/>
          </p:nvPr>
        </p:nvPicPr>
        <p:blipFill>
          <a:blip r:embed="rId1"/>
          <a:stretch>
            <a:fillRect/>
          </a:stretch>
        </p:blipFill>
        <p:spPr>
          <a:xfrm>
            <a:off x="609600" y="1296670"/>
            <a:ext cx="5457825" cy="1352550"/>
          </a:xfrm>
          <a:prstGeom prst="rect">
            <a:avLst/>
          </a:prstGeom>
        </p:spPr>
      </p:pic>
      <p:pic>
        <p:nvPicPr>
          <p:cNvPr id="5" name="Picture 4"/>
          <p:cNvPicPr>
            <a:picLocks noChangeAspect="1"/>
          </p:cNvPicPr>
          <p:nvPr/>
        </p:nvPicPr>
        <p:blipFill>
          <a:blip r:embed="rId2"/>
          <a:stretch>
            <a:fillRect/>
          </a:stretch>
        </p:blipFill>
        <p:spPr>
          <a:xfrm>
            <a:off x="609600" y="2649220"/>
            <a:ext cx="3448050" cy="257175"/>
          </a:xfrm>
          <a:prstGeom prst="rect">
            <a:avLst/>
          </a:prstGeom>
        </p:spPr>
      </p:pic>
      <p:pic>
        <p:nvPicPr>
          <p:cNvPr id="6" name="Picture 5"/>
          <p:cNvPicPr>
            <a:picLocks noChangeAspect="1"/>
          </p:cNvPicPr>
          <p:nvPr/>
        </p:nvPicPr>
        <p:blipFill>
          <a:blip r:embed="rId3"/>
          <a:stretch>
            <a:fillRect/>
          </a:stretch>
        </p:blipFill>
        <p:spPr>
          <a:xfrm>
            <a:off x="6067425" y="1296670"/>
            <a:ext cx="6068060" cy="1352550"/>
          </a:xfrm>
          <a:prstGeom prst="rect">
            <a:avLst/>
          </a:prstGeom>
        </p:spPr>
      </p:pic>
      <p:pic>
        <p:nvPicPr>
          <p:cNvPr id="7" name="Picture 6"/>
          <p:cNvPicPr>
            <a:picLocks noChangeAspect="1"/>
          </p:cNvPicPr>
          <p:nvPr/>
        </p:nvPicPr>
        <p:blipFill>
          <a:blip r:embed="rId4"/>
          <a:stretch>
            <a:fillRect/>
          </a:stretch>
        </p:blipFill>
        <p:spPr>
          <a:xfrm>
            <a:off x="609600" y="2906395"/>
            <a:ext cx="7124700" cy="38576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SARIMAX (AZ)</a:t>
            </a:r>
            <a:endParaRPr lang="en-US"/>
          </a:p>
        </p:txBody>
      </p:sp>
      <p:pic>
        <p:nvPicPr>
          <p:cNvPr id="4" name="Content Placeholder 3"/>
          <p:cNvPicPr>
            <a:picLocks noChangeAspect="1"/>
          </p:cNvPicPr>
          <p:nvPr>
            <p:ph idx="1"/>
          </p:nvPr>
        </p:nvPicPr>
        <p:blipFill>
          <a:blip r:embed="rId1"/>
          <a:stretch>
            <a:fillRect/>
          </a:stretch>
        </p:blipFill>
        <p:spPr>
          <a:xfrm>
            <a:off x="609600" y="1229995"/>
            <a:ext cx="5400675" cy="1266825"/>
          </a:xfrm>
          <a:prstGeom prst="rect">
            <a:avLst/>
          </a:prstGeom>
        </p:spPr>
      </p:pic>
      <p:pic>
        <p:nvPicPr>
          <p:cNvPr id="5" name="Picture 4"/>
          <p:cNvPicPr>
            <a:picLocks noChangeAspect="1"/>
          </p:cNvPicPr>
          <p:nvPr/>
        </p:nvPicPr>
        <p:blipFill>
          <a:blip r:embed="rId2"/>
          <a:stretch>
            <a:fillRect/>
          </a:stretch>
        </p:blipFill>
        <p:spPr>
          <a:xfrm>
            <a:off x="609600" y="2496820"/>
            <a:ext cx="3381375" cy="266700"/>
          </a:xfrm>
          <a:prstGeom prst="rect">
            <a:avLst/>
          </a:prstGeom>
        </p:spPr>
      </p:pic>
      <p:pic>
        <p:nvPicPr>
          <p:cNvPr id="6" name="Picture 5"/>
          <p:cNvPicPr>
            <a:picLocks noChangeAspect="1"/>
          </p:cNvPicPr>
          <p:nvPr/>
        </p:nvPicPr>
        <p:blipFill>
          <a:blip r:embed="rId3"/>
          <a:stretch>
            <a:fillRect/>
          </a:stretch>
        </p:blipFill>
        <p:spPr>
          <a:xfrm>
            <a:off x="609600" y="2830195"/>
            <a:ext cx="7124700" cy="38576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SARIMAX (DBS)</a:t>
            </a:r>
            <a:endParaRPr lang="en-US"/>
          </a:p>
        </p:txBody>
      </p:sp>
      <p:pic>
        <p:nvPicPr>
          <p:cNvPr id="4" name="Content Placeholder 3"/>
          <p:cNvPicPr>
            <a:picLocks noChangeAspect="1"/>
          </p:cNvPicPr>
          <p:nvPr>
            <p:ph idx="1"/>
          </p:nvPr>
        </p:nvPicPr>
        <p:blipFill>
          <a:blip r:embed="rId1"/>
          <a:stretch>
            <a:fillRect/>
          </a:stretch>
        </p:blipFill>
        <p:spPr>
          <a:xfrm>
            <a:off x="609600" y="1229360"/>
            <a:ext cx="5438775" cy="1228725"/>
          </a:xfrm>
          <a:prstGeom prst="rect">
            <a:avLst/>
          </a:prstGeom>
        </p:spPr>
      </p:pic>
      <p:pic>
        <p:nvPicPr>
          <p:cNvPr id="5" name="Picture 4"/>
          <p:cNvPicPr>
            <a:picLocks noChangeAspect="1"/>
          </p:cNvPicPr>
          <p:nvPr/>
        </p:nvPicPr>
        <p:blipFill>
          <a:blip r:embed="rId2"/>
          <a:stretch>
            <a:fillRect/>
          </a:stretch>
        </p:blipFill>
        <p:spPr>
          <a:xfrm>
            <a:off x="609600" y="2520950"/>
            <a:ext cx="3505200" cy="266700"/>
          </a:xfrm>
          <a:prstGeom prst="rect">
            <a:avLst/>
          </a:prstGeom>
        </p:spPr>
      </p:pic>
      <p:pic>
        <p:nvPicPr>
          <p:cNvPr id="6" name="Picture 5"/>
          <p:cNvPicPr>
            <a:picLocks noChangeAspect="1"/>
          </p:cNvPicPr>
          <p:nvPr/>
        </p:nvPicPr>
        <p:blipFill>
          <a:blip r:embed="rId3"/>
          <a:stretch>
            <a:fillRect/>
          </a:stretch>
        </p:blipFill>
        <p:spPr>
          <a:xfrm>
            <a:off x="609600" y="2850515"/>
            <a:ext cx="7181850" cy="38671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MAPE</a:t>
            </a:r>
            <a:endParaRPr lang="en-US"/>
          </a:p>
        </p:txBody>
      </p:sp>
      <p:pic>
        <p:nvPicPr>
          <p:cNvPr id="4" name="Content Placeholder 3"/>
          <p:cNvPicPr>
            <a:picLocks noChangeAspect="1"/>
          </p:cNvPicPr>
          <p:nvPr>
            <p:ph idx="1"/>
          </p:nvPr>
        </p:nvPicPr>
        <p:blipFill>
          <a:blip r:embed="rId1"/>
          <a:stretch>
            <a:fillRect/>
          </a:stretch>
        </p:blipFill>
        <p:spPr>
          <a:xfrm>
            <a:off x="609600" y="1322705"/>
            <a:ext cx="7820025" cy="18573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SARIMAX Params Tuning (1)</a:t>
            </a:r>
            <a:endParaRPr lang="en-US"/>
          </a:p>
        </p:txBody>
      </p:sp>
      <p:pic>
        <p:nvPicPr>
          <p:cNvPr id="4" name="Content Placeholder 3"/>
          <p:cNvPicPr>
            <a:picLocks noChangeAspect="1"/>
          </p:cNvPicPr>
          <p:nvPr>
            <p:ph idx="1"/>
          </p:nvPr>
        </p:nvPicPr>
        <p:blipFill>
          <a:blip r:embed="rId1"/>
          <a:stretch>
            <a:fillRect/>
          </a:stretch>
        </p:blipFill>
        <p:spPr>
          <a:xfrm>
            <a:off x="609600" y="1105535"/>
            <a:ext cx="4657725" cy="762000"/>
          </a:xfrm>
          <a:prstGeom prst="rect">
            <a:avLst/>
          </a:prstGeom>
        </p:spPr>
      </p:pic>
      <p:pic>
        <p:nvPicPr>
          <p:cNvPr id="5" name="Picture 4"/>
          <p:cNvPicPr>
            <a:picLocks noChangeAspect="1"/>
          </p:cNvPicPr>
          <p:nvPr/>
        </p:nvPicPr>
        <p:blipFill>
          <a:blip r:embed="rId2"/>
          <a:stretch>
            <a:fillRect/>
          </a:stretch>
        </p:blipFill>
        <p:spPr>
          <a:xfrm>
            <a:off x="609600" y="2005965"/>
            <a:ext cx="5438775" cy="3400425"/>
          </a:xfrm>
          <a:prstGeom prst="rect">
            <a:avLst/>
          </a:prstGeom>
        </p:spPr>
      </p:pic>
      <p:pic>
        <p:nvPicPr>
          <p:cNvPr id="6" name="Picture 5"/>
          <p:cNvPicPr>
            <a:picLocks noChangeAspect="1"/>
          </p:cNvPicPr>
          <p:nvPr/>
        </p:nvPicPr>
        <p:blipFill>
          <a:blip r:embed="rId3"/>
          <a:stretch>
            <a:fillRect/>
          </a:stretch>
        </p:blipFill>
        <p:spPr>
          <a:xfrm>
            <a:off x="6317615" y="2005965"/>
            <a:ext cx="5324475" cy="37052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SARIMAX Params Tuning (2)</a:t>
            </a:r>
            <a:endParaRPr lang="en-US"/>
          </a:p>
        </p:txBody>
      </p:sp>
      <p:pic>
        <p:nvPicPr>
          <p:cNvPr id="4" name="Content Placeholder 3"/>
          <p:cNvPicPr>
            <a:picLocks noChangeAspect="1"/>
          </p:cNvPicPr>
          <p:nvPr>
            <p:ph idx="1"/>
          </p:nvPr>
        </p:nvPicPr>
        <p:blipFill>
          <a:blip r:embed="rId1"/>
          <a:stretch>
            <a:fillRect/>
          </a:stretch>
        </p:blipFill>
        <p:spPr>
          <a:xfrm>
            <a:off x="609600" y="1174750"/>
            <a:ext cx="6529705" cy="4953000"/>
          </a:xfrm>
          <a:prstGeom prst="rect">
            <a:avLst/>
          </a:prstGeom>
        </p:spPr>
      </p:pic>
      <p:pic>
        <p:nvPicPr>
          <p:cNvPr id="5" name="Picture 4"/>
          <p:cNvPicPr>
            <a:picLocks noChangeAspect="1"/>
          </p:cNvPicPr>
          <p:nvPr/>
        </p:nvPicPr>
        <p:blipFill>
          <a:blip r:embed="rId2"/>
          <a:stretch>
            <a:fillRect/>
          </a:stretch>
        </p:blipFill>
        <p:spPr>
          <a:xfrm>
            <a:off x="5998210" y="5567680"/>
            <a:ext cx="5657850" cy="8382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SARIMAX Params Tuning (3) Apple</a:t>
            </a:r>
            <a:endParaRPr lang="en-US"/>
          </a:p>
        </p:txBody>
      </p:sp>
      <p:pic>
        <p:nvPicPr>
          <p:cNvPr id="5" name="Picture 4"/>
          <p:cNvPicPr>
            <a:picLocks noChangeAspect="1"/>
          </p:cNvPicPr>
          <p:nvPr/>
        </p:nvPicPr>
        <p:blipFill>
          <a:blip r:embed="rId1"/>
          <a:stretch>
            <a:fillRect/>
          </a:stretch>
        </p:blipFill>
        <p:spPr>
          <a:xfrm>
            <a:off x="4457700" y="1863725"/>
            <a:ext cx="7124700" cy="3857625"/>
          </a:xfrm>
          <a:prstGeom prst="rect">
            <a:avLst/>
          </a:prstGeom>
        </p:spPr>
      </p:pic>
      <p:pic>
        <p:nvPicPr>
          <p:cNvPr id="4" name="Content Placeholder 3"/>
          <p:cNvPicPr>
            <a:picLocks noChangeAspect="1"/>
          </p:cNvPicPr>
          <p:nvPr>
            <p:ph idx="1"/>
          </p:nvPr>
        </p:nvPicPr>
        <p:blipFill>
          <a:blip r:embed="rId2"/>
          <a:stretch>
            <a:fillRect/>
          </a:stretch>
        </p:blipFill>
        <p:spPr>
          <a:xfrm>
            <a:off x="609600" y="1863725"/>
            <a:ext cx="7143750" cy="3819525"/>
          </a:xfrm>
          <a:prstGeom prst="rect">
            <a:avLst/>
          </a:prstGeom>
        </p:spPr>
      </p:pic>
      <p:sp>
        <p:nvSpPr>
          <p:cNvPr id="6" name="Text Box 5"/>
          <p:cNvSpPr txBox="1"/>
          <p:nvPr/>
        </p:nvSpPr>
        <p:spPr>
          <a:xfrm>
            <a:off x="1845945" y="1353185"/>
            <a:ext cx="4064000" cy="368300"/>
          </a:xfrm>
          <a:prstGeom prst="rect">
            <a:avLst/>
          </a:prstGeom>
          <a:noFill/>
        </p:spPr>
        <p:txBody>
          <a:bodyPr wrap="square" rtlCol="0">
            <a:spAutoFit/>
          </a:bodyPr>
          <a:p>
            <a:r>
              <a:rPr lang="en-US"/>
              <a:t>After Tuning</a:t>
            </a:r>
            <a:endParaRPr lang="en-US"/>
          </a:p>
        </p:txBody>
      </p:sp>
      <p:sp>
        <p:nvSpPr>
          <p:cNvPr id="8" name="Text Box 7"/>
          <p:cNvSpPr txBox="1"/>
          <p:nvPr/>
        </p:nvSpPr>
        <p:spPr>
          <a:xfrm>
            <a:off x="7872730" y="1353185"/>
            <a:ext cx="4064000" cy="368300"/>
          </a:xfrm>
          <a:prstGeom prst="rect">
            <a:avLst/>
          </a:prstGeom>
          <a:noFill/>
        </p:spPr>
        <p:txBody>
          <a:bodyPr wrap="square" rtlCol="0">
            <a:spAutoFit/>
          </a:bodyPr>
          <a:p>
            <a:r>
              <a:rPr lang="en-US"/>
              <a:t>Before Tuning</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582613"/>
          </a:xfrm>
        </p:spPr>
        <p:txBody>
          <a:bodyPr/>
          <a:p>
            <a:r>
              <a:rPr lang="en-US">
                <a:sym typeface="+mn-ea"/>
              </a:rPr>
              <a:t>SARIMAX Params Tuning (4) AZ</a:t>
            </a:r>
            <a:endParaRPr lang="en-US"/>
          </a:p>
        </p:txBody>
      </p:sp>
      <p:pic>
        <p:nvPicPr>
          <p:cNvPr id="6" name="Picture 5"/>
          <p:cNvPicPr>
            <a:picLocks noChangeAspect="1"/>
          </p:cNvPicPr>
          <p:nvPr/>
        </p:nvPicPr>
        <p:blipFill>
          <a:blip r:embed="rId1"/>
          <a:stretch>
            <a:fillRect/>
          </a:stretch>
        </p:blipFill>
        <p:spPr>
          <a:xfrm>
            <a:off x="4467225" y="1741170"/>
            <a:ext cx="7115175" cy="3867150"/>
          </a:xfrm>
          <a:prstGeom prst="rect">
            <a:avLst/>
          </a:prstGeom>
        </p:spPr>
      </p:pic>
      <p:pic>
        <p:nvPicPr>
          <p:cNvPr id="4" name="Content Placeholder 3"/>
          <p:cNvPicPr>
            <a:picLocks noChangeAspect="1"/>
          </p:cNvPicPr>
          <p:nvPr>
            <p:ph idx="1"/>
          </p:nvPr>
        </p:nvPicPr>
        <p:blipFill>
          <a:blip r:embed="rId2"/>
          <a:stretch>
            <a:fillRect/>
          </a:stretch>
        </p:blipFill>
        <p:spPr>
          <a:xfrm>
            <a:off x="609600" y="1741170"/>
            <a:ext cx="7077075" cy="3819525"/>
          </a:xfrm>
          <a:prstGeom prst="rect">
            <a:avLst/>
          </a:prstGeom>
        </p:spPr>
      </p:pic>
      <p:sp>
        <p:nvSpPr>
          <p:cNvPr id="5" name="Text Box 4"/>
          <p:cNvSpPr txBox="1"/>
          <p:nvPr/>
        </p:nvSpPr>
        <p:spPr>
          <a:xfrm>
            <a:off x="1845945" y="1353185"/>
            <a:ext cx="4064000" cy="368300"/>
          </a:xfrm>
          <a:prstGeom prst="rect">
            <a:avLst/>
          </a:prstGeom>
          <a:noFill/>
        </p:spPr>
        <p:txBody>
          <a:bodyPr wrap="square" rtlCol="0">
            <a:spAutoFit/>
          </a:bodyPr>
          <a:p>
            <a:r>
              <a:rPr lang="en-US"/>
              <a:t>After Tuning</a:t>
            </a:r>
            <a:endParaRPr lang="en-US"/>
          </a:p>
        </p:txBody>
      </p:sp>
      <p:sp>
        <p:nvSpPr>
          <p:cNvPr id="8" name="Text Box 7"/>
          <p:cNvSpPr txBox="1"/>
          <p:nvPr/>
        </p:nvSpPr>
        <p:spPr>
          <a:xfrm>
            <a:off x="7872730" y="1353185"/>
            <a:ext cx="4064000" cy="368300"/>
          </a:xfrm>
          <a:prstGeom prst="rect">
            <a:avLst/>
          </a:prstGeom>
          <a:noFill/>
        </p:spPr>
        <p:txBody>
          <a:bodyPr wrap="square" rtlCol="0">
            <a:spAutoFit/>
          </a:bodyPr>
          <a:p>
            <a:r>
              <a:rPr lang="en-US"/>
              <a:t>Before Tuning</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4124325" y="1776730"/>
            <a:ext cx="7181850" cy="3867150"/>
          </a:xfrm>
          <a:prstGeom prst="rect">
            <a:avLst/>
          </a:prstGeom>
        </p:spPr>
      </p:pic>
      <p:sp>
        <p:nvSpPr>
          <p:cNvPr id="2" name="Title 1"/>
          <p:cNvSpPr>
            <a:spLocks noGrp="1"/>
          </p:cNvSpPr>
          <p:nvPr>
            <p:ph type="title"/>
          </p:nvPr>
        </p:nvSpPr>
        <p:spPr/>
        <p:txBody>
          <a:bodyPr/>
          <a:p>
            <a:r>
              <a:rPr lang="en-US">
                <a:sym typeface="+mn-ea"/>
              </a:rPr>
              <a:t>SARIMAX Params Tuning (5) DBS</a:t>
            </a:r>
            <a:endParaRPr lang="en-US"/>
          </a:p>
        </p:txBody>
      </p:sp>
      <p:pic>
        <p:nvPicPr>
          <p:cNvPr id="4" name="Content Placeholder 3"/>
          <p:cNvPicPr>
            <a:picLocks noChangeAspect="1"/>
          </p:cNvPicPr>
          <p:nvPr>
            <p:ph idx="1"/>
          </p:nvPr>
        </p:nvPicPr>
        <p:blipFill>
          <a:blip r:embed="rId2"/>
          <a:stretch>
            <a:fillRect/>
          </a:stretch>
        </p:blipFill>
        <p:spPr>
          <a:xfrm>
            <a:off x="609600" y="1717040"/>
            <a:ext cx="7172325" cy="3867150"/>
          </a:xfrm>
          <a:prstGeom prst="rect">
            <a:avLst/>
          </a:prstGeom>
        </p:spPr>
      </p:pic>
      <p:sp>
        <p:nvSpPr>
          <p:cNvPr id="5" name="Text Box 4"/>
          <p:cNvSpPr txBox="1"/>
          <p:nvPr/>
        </p:nvSpPr>
        <p:spPr>
          <a:xfrm>
            <a:off x="1845945" y="1353185"/>
            <a:ext cx="4064000" cy="368300"/>
          </a:xfrm>
          <a:prstGeom prst="rect">
            <a:avLst/>
          </a:prstGeom>
          <a:noFill/>
        </p:spPr>
        <p:txBody>
          <a:bodyPr wrap="square" rtlCol="0">
            <a:spAutoFit/>
          </a:bodyPr>
          <a:p>
            <a:r>
              <a:rPr lang="en-US"/>
              <a:t>After Tuning</a:t>
            </a:r>
            <a:endParaRPr lang="en-US"/>
          </a:p>
        </p:txBody>
      </p:sp>
      <p:sp>
        <p:nvSpPr>
          <p:cNvPr id="8" name="Text Box 7"/>
          <p:cNvSpPr txBox="1"/>
          <p:nvPr/>
        </p:nvSpPr>
        <p:spPr>
          <a:xfrm>
            <a:off x="7872730" y="1353185"/>
            <a:ext cx="4064000" cy="368300"/>
          </a:xfrm>
          <a:prstGeom prst="rect">
            <a:avLst/>
          </a:prstGeom>
          <a:noFill/>
        </p:spPr>
        <p:txBody>
          <a:bodyPr wrap="square" rtlCol="0">
            <a:spAutoFit/>
          </a:bodyPr>
          <a:p>
            <a:r>
              <a:rPr lang="en-US"/>
              <a:t>Before Tuning</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MAPE Score</a:t>
            </a:r>
            <a:endParaRPr lang="en-US"/>
          </a:p>
        </p:txBody>
      </p:sp>
      <p:pic>
        <p:nvPicPr>
          <p:cNvPr id="4" name="Content Placeholder 3"/>
          <p:cNvPicPr>
            <a:picLocks noChangeAspect="1"/>
          </p:cNvPicPr>
          <p:nvPr>
            <p:ph idx="1"/>
          </p:nvPr>
        </p:nvPicPr>
        <p:blipFill>
          <a:blip r:embed="rId1"/>
          <a:stretch>
            <a:fillRect/>
          </a:stretch>
        </p:blipFill>
        <p:spPr>
          <a:xfrm>
            <a:off x="582930" y="1524000"/>
            <a:ext cx="9006205" cy="27584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Residuals</a:t>
            </a:r>
            <a:endParaRPr lang="en-US"/>
          </a:p>
        </p:txBody>
      </p:sp>
      <p:pic>
        <p:nvPicPr>
          <p:cNvPr id="4" name="Content Placeholder 3"/>
          <p:cNvPicPr>
            <a:picLocks noChangeAspect="1"/>
          </p:cNvPicPr>
          <p:nvPr>
            <p:ph idx="1"/>
          </p:nvPr>
        </p:nvPicPr>
        <p:blipFill>
          <a:blip r:embed="rId1"/>
          <a:stretch>
            <a:fillRect/>
          </a:stretch>
        </p:blipFill>
        <p:spPr>
          <a:xfrm>
            <a:off x="609600" y="1117600"/>
            <a:ext cx="5895975" cy="38957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Residuals</a:t>
            </a:r>
            <a:endParaRPr lang="en-US"/>
          </a:p>
        </p:txBody>
      </p:sp>
      <p:pic>
        <p:nvPicPr>
          <p:cNvPr id="4" name="Content Placeholder 3"/>
          <p:cNvPicPr>
            <a:picLocks noChangeAspect="1"/>
          </p:cNvPicPr>
          <p:nvPr>
            <p:ph idx="1"/>
          </p:nvPr>
        </p:nvPicPr>
        <p:blipFill>
          <a:blip r:embed="rId1"/>
          <a:stretch>
            <a:fillRect/>
          </a:stretch>
        </p:blipFill>
        <p:spPr>
          <a:xfrm>
            <a:off x="321945" y="1355090"/>
            <a:ext cx="6048375" cy="3876675"/>
          </a:xfrm>
          <a:prstGeom prst="rect">
            <a:avLst/>
          </a:prstGeom>
        </p:spPr>
      </p:pic>
      <p:pic>
        <p:nvPicPr>
          <p:cNvPr id="5" name="Picture 4"/>
          <p:cNvPicPr>
            <a:picLocks noChangeAspect="1"/>
          </p:cNvPicPr>
          <p:nvPr/>
        </p:nvPicPr>
        <p:blipFill>
          <a:blip r:embed="rId2"/>
          <a:stretch>
            <a:fillRect/>
          </a:stretch>
        </p:blipFill>
        <p:spPr>
          <a:xfrm>
            <a:off x="6459855" y="1355090"/>
            <a:ext cx="6019800" cy="38481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Conclusion</a:t>
            </a:r>
            <a:endParaRPr lang="en-US"/>
          </a:p>
        </p:txBody>
      </p:sp>
      <p:sp>
        <p:nvSpPr>
          <p:cNvPr id="3" name="Content Placeholder 2"/>
          <p:cNvSpPr>
            <a:spLocks noGrp="1"/>
          </p:cNvSpPr>
          <p:nvPr>
            <p:ph idx="1"/>
          </p:nvPr>
        </p:nvSpPr>
        <p:spPr/>
        <p:txBody>
          <a:bodyPr/>
          <a:p>
            <a:pPr marL="0" indent="0">
              <a:buNone/>
            </a:pPr>
            <a:endParaRPr lang="en-US" altLang="en-US"/>
          </a:p>
        </p:txBody>
      </p:sp>
      <p:graphicFrame>
        <p:nvGraphicFramePr>
          <p:cNvPr id="6" name="Table 5"/>
          <p:cNvGraphicFramePr/>
          <p:nvPr/>
        </p:nvGraphicFramePr>
        <p:xfrm>
          <a:off x="609600" y="943610"/>
          <a:ext cx="8532496" cy="2301240"/>
        </p:xfrm>
        <a:graphic>
          <a:graphicData uri="http://schemas.openxmlformats.org/drawingml/2006/table">
            <a:tbl>
              <a:tblPr firstRow="1" bandRow="1">
                <a:tableStyleId>{5C22544A-7EE6-4342-B048-85BDC9FD1C3A}</a:tableStyleId>
              </a:tblPr>
              <a:tblGrid>
                <a:gridCol w="1712595"/>
                <a:gridCol w="2049145"/>
                <a:gridCol w="2305685"/>
                <a:gridCol w="2465071"/>
              </a:tblGrid>
              <a:tr h="381000">
                <a:tc>
                  <a:txBody>
                    <a:bodyPr/>
                    <a:p>
                      <a:pPr>
                        <a:buNone/>
                      </a:pPr>
                      <a:r>
                        <a:rPr lang="en-US" sz="1800">
                          <a:sym typeface="+mn-ea"/>
                        </a:rPr>
                        <a:t>MAPES</a:t>
                      </a:r>
                      <a:endParaRPr lang="en-US"/>
                    </a:p>
                  </a:txBody>
                  <a:tcPr/>
                </a:tc>
                <a:tc>
                  <a:txBody>
                    <a:bodyPr/>
                    <a:p>
                      <a:pPr>
                        <a:buNone/>
                      </a:pPr>
                      <a:r>
                        <a:rPr lang="en-US" sz="1800">
                          <a:sym typeface="+mn-ea"/>
                        </a:rPr>
                        <a:t>HWES </a:t>
                      </a:r>
                      <a:endParaRPr lang="en-US"/>
                    </a:p>
                  </a:txBody>
                  <a:tcPr/>
                </a:tc>
                <a:tc>
                  <a:txBody>
                    <a:bodyPr/>
                    <a:p>
                      <a:pPr>
                        <a:buNone/>
                      </a:pPr>
                      <a:r>
                        <a:rPr lang="en-US"/>
                        <a:t>SARIMAX (Before)</a:t>
                      </a:r>
                      <a:endParaRPr lang="en-US"/>
                    </a:p>
                  </a:txBody>
                  <a:tcPr/>
                </a:tc>
                <a:tc>
                  <a:txBody>
                    <a:bodyPr/>
                    <a:p>
                      <a:pPr>
                        <a:buNone/>
                      </a:pPr>
                      <a:r>
                        <a:rPr lang="en-US" sz="1800">
                          <a:sym typeface="+mn-ea"/>
                        </a:rPr>
                        <a:t>SARIMAX (After)</a:t>
                      </a:r>
                      <a:endParaRPr lang="en-US"/>
                    </a:p>
                  </a:txBody>
                  <a:tcPr/>
                </a:tc>
              </a:tr>
              <a:tr h="640080">
                <a:tc>
                  <a:txBody>
                    <a:bodyPr/>
                    <a:p>
                      <a:pPr>
                        <a:buNone/>
                      </a:pPr>
                      <a:r>
                        <a:rPr lang="en-US" sz="1800">
                          <a:sym typeface="+mn-ea"/>
                        </a:rPr>
                        <a:t>Apple</a:t>
                      </a:r>
                      <a:endParaRPr lang="en-US"/>
                    </a:p>
                  </a:txBody>
                  <a:tcPr/>
                </a:tc>
                <a:tc>
                  <a:txBody>
                    <a:bodyPr/>
                    <a:p>
                      <a:pPr>
                        <a:buNone/>
                      </a:pPr>
                      <a:r>
                        <a:rPr lang="en-US" sz="1800" b="1">
                          <a:solidFill>
                            <a:srgbClr val="FF0000"/>
                          </a:solidFill>
                          <a:sym typeface="+mn-ea"/>
                        </a:rPr>
                        <a:t>10.43%</a:t>
                      </a:r>
                      <a:endParaRPr lang="en-US" sz="1800" b="1">
                        <a:solidFill>
                          <a:srgbClr val="FF0000"/>
                        </a:solidFill>
                        <a:sym typeface="+mn-ea"/>
                      </a:endParaRPr>
                    </a:p>
                  </a:txBody>
                  <a:tcPr/>
                </a:tc>
                <a:tc>
                  <a:txBody>
                    <a:bodyPr/>
                    <a:p>
                      <a:pPr>
                        <a:buNone/>
                      </a:pPr>
                      <a:r>
                        <a:rPr lang="en-US"/>
                        <a:t>15.37%</a:t>
                      </a:r>
                      <a:endParaRPr lang="en-US"/>
                    </a:p>
                  </a:txBody>
                  <a:tcPr/>
                </a:tc>
                <a:tc>
                  <a:txBody>
                    <a:bodyPr/>
                    <a:p>
                      <a:pPr>
                        <a:buNone/>
                      </a:pPr>
                      <a:r>
                        <a:rPr lang="en-US"/>
                        <a:t>15.64%</a:t>
                      </a:r>
                      <a:endParaRPr lang="en-US"/>
                    </a:p>
                  </a:txBody>
                  <a:tcPr/>
                </a:tc>
              </a:tr>
              <a:tr h="640080">
                <a:tc>
                  <a:txBody>
                    <a:bodyPr/>
                    <a:p>
                      <a:pPr>
                        <a:buNone/>
                      </a:pPr>
                      <a:r>
                        <a:rPr lang="en-US" sz="1800">
                          <a:sym typeface="+mn-ea"/>
                        </a:rPr>
                        <a:t>Amazon</a:t>
                      </a:r>
                      <a:endParaRPr lang="en-US"/>
                    </a:p>
                  </a:txBody>
                  <a:tcPr/>
                </a:tc>
                <a:tc>
                  <a:txBody>
                    <a:bodyPr/>
                    <a:p>
                      <a:pPr>
                        <a:buNone/>
                      </a:pPr>
                      <a:r>
                        <a:rPr lang="en-US" sz="1800">
                          <a:sym typeface="+mn-ea"/>
                        </a:rPr>
                        <a:t>14.72%</a:t>
                      </a:r>
                      <a:endParaRPr lang="en-US"/>
                    </a:p>
                  </a:txBody>
                  <a:tcPr/>
                </a:tc>
                <a:tc>
                  <a:txBody>
                    <a:bodyPr/>
                    <a:p>
                      <a:pPr>
                        <a:buNone/>
                      </a:pPr>
                      <a:r>
                        <a:rPr lang="en-US" b="1">
                          <a:solidFill>
                            <a:srgbClr val="FF0000"/>
                          </a:solidFill>
                        </a:rPr>
                        <a:t>13.77%</a:t>
                      </a:r>
                      <a:endParaRPr lang="en-US" b="1">
                        <a:solidFill>
                          <a:srgbClr val="FF0000"/>
                        </a:solidFill>
                      </a:endParaRPr>
                    </a:p>
                  </a:txBody>
                  <a:tcPr/>
                </a:tc>
                <a:tc>
                  <a:txBody>
                    <a:bodyPr/>
                    <a:p>
                      <a:pPr>
                        <a:buNone/>
                      </a:pPr>
                      <a:r>
                        <a:rPr lang="en-US"/>
                        <a:t>14.43%</a:t>
                      </a:r>
                      <a:endParaRPr lang="en-US"/>
                    </a:p>
                  </a:txBody>
                  <a:tcPr/>
                </a:tc>
              </a:tr>
              <a:tr h="640080">
                <a:tc>
                  <a:txBody>
                    <a:bodyPr/>
                    <a:p>
                      <a:pPr>
                        <a:buNone/>
                      </a:pPr>
                      <a:r>
                        <a:rPr lang="en-US" sz="1800">
                          <a:sym typeface="+mn-ea"/>
                        </a:rPr>
                        <a:t>DBS</a:t>
                      </a:r>
                      <a:endParaRPr lang="en-US"/>
                    </a:p>
                  </a:txBody>
                  <a:tcPr/>
                </a:tc>
                <a:tc>
                  <a:txBody>
                    <a:bodyPr/>
                    <a:p>
                      <a:pPr>
                        <a:buNone/>
                      </a:pPr>
                      <a:r>
                        <a:rPr lang="en-US" sz="1800">
                          <a:sym typeface="+mn-ea"/>
                        </a:rPr>
                        <a:t>3.48%</a:t>
                      </a:r>
                      <a:endParaRPr lang="en-US"/>
                    </a:p>
                  </a:txBody>
                  <a:tcPr/>
                </a:tc>
                <a:tc>
                  <a:txBody>
                    <a:bodyPr/>
                    <a:p>
                      <a:pPr>
                        <a:buNone/>
                      </a:pPr>
                      <a:r>
                        <a:rPr lang="en-US"/>
                        <a:t>2.19%</a:t>
                      </a:r>
                      <a:endParaRPr lang="en-US"/>
                    </a:p>
                  </a:txBody>
                  <a:tcPr/>
                </a:tc>
                <a:tc>
                  <a:txBody>
                    <a:bodyPr/>
                    <a:p>
                      <a:pPr>
                        <a:buNone/>
                      </a:pPr>
                      <a:r>
                        <a:rPr lang="en-US" b="1">
                          <a:solidFill>
                            <a:srgbClr val="FF0000"/>
                          </a:solidFill>
                        </a:rPr>
                        <a:t>1.97%</a:t>
                      </a:r>
                      <a:endParaRPr lang="en-US" b="1">
                        <a:solidFill>
                          <a:srgbClr val="FF0000"/>
                        </a:solidFill>
                      </a:endParaRPr>
                    </a:p>
                  </a:txBody>
                  <a:tcPr/>
                </a:tc>
              </a:tr>
            </a:tbl>
          </a:graphicData>
        </a:graphic>
      </p:graphicFrame>
      <p:graphicFrame>
        <p:nvGraphicFramePr>
          <p:cNvPr id="13" name="Table 12"/>
          <p:cNvGraphicFramePr/>
          <p:nvPr/>
        </p:nvGraphicFramePr>
        <p:xfrm>
          <a:off x="610235" y="3359785"/>
          <a:ext cx="8524417" cy="1524000"/>
        </p:xfrm>
        <a:graphic>
          <a:graphicData uri="http://schemas.openxmlformats.org/drawingml/2006/table">
            <a:tbl>
              <a:tblPr firstRow="1" bandRow="1">
                <a:tableStyleId>{5C22544A-7EE6-4342-B048-85BDC9FD1C3A}</a:tableStyleId>
              </a:tblPr>
              <a:tblGrid>
                <a:gridCol w="1584812"/>
                <a:gridCol w="2197100"/>
                <a:gridCol w="2305685"/>
                <a:gridCol w="2436820"/>
              </a:tblGrid>
              <a:tr h="381000">
                <a:tc>
                  <a:txBody>
                    <a:bodyPr/>
                    <a:p>
                      <a:pPr>
                        <a:buNone/>
                      </a:pPr>
                      <a:r>
                        <a:rPr lang="en-US"/>
                        <a:t>AIC</a:t>
                      </a:r>
                      <a:endParaRPr lang="en-US"/>
                    </a:p>
                  </a:txBody>
                  <a:tcPr/>
                </a:tc>
                <a:tc>
                  <a:txBody>
                    <a:bodyPr/>
                    <a:p>
                      <a:pPr>
                        <a:buNone/>
                      </a:pPr>
                      <a:r>
                        <a:rPr lang="en-US"/>
                        <a:t>ARIMAX</a:t>
                      </a:r>
                      <a:endParaRPr lang="en-US"/>
                    </a:p>
                  </a:txBody>
                  <a:tcPr/>
                </a:tc>
                <a:tc>
                  <a:txBody>
                    <a:bodyPr/>
                    <a:p>
                      <a:pPr>
                        <a:buNone/>
                      </a:pPr>
                      <a:r>
                        <a:rPr lang="en-US"/>
                        <a:t>SARIMAX</a:t>
                      </a:r>
                      <a:endParaRPr lang="en-US"/>
                    </a:p>
                  </a:txBody>
                  <a:tcPr/>
                </a:tc>
                <a:tc>
                  <a:txBody>
                    <a:bodyPr/>
                    <a:p>
                      <a:pPr>
                        <a:buNone/>
                      </a:pPr>
                      <a:r>
                        <a:rPr lang="en-US"/>
                        <a:t>Variance</a:t>
                      </a:r>
                      <a:endParaRPr lang="en-US"/>
                    </a:p>
                  </a:txBody>
                  <a:tcPr/>
                </a:tc>
              </a:tr>
              <a:tr h="381000">
                <a:tc>
                  <a:txBody>
                    <a:bodyPr/>
                    <a:p>
                      <a:pPr>
                        <a:buNone/>
                      </a:pPr>
                      <a:r>
                        <a:rPr lang="en-US"/>
                        <a:t>Apple</a:t>
                      </a:r>
                      <a:endParaRPr lang="en-US"/>
                    </a:p>
                  </a:txBody>
                  <a:tcPr/>
                </a:tc>
                <a:tc>
                  <a:txBody>
                    <a:bodyPr/>
                    <a:p>
                      <a:pPr>
                        <a:buNone/>
                      </a:pPr>
                      <a:r>
                        <a:rPr lang="en-US" b="1"/>
                        <a:t>4,517.02</a:t>
                      </a:r>
                      <a:endParaRPr lang="en-US" b="1"/>
                    </a:p>
                  </a:txBody>
                  <a:tcPr/>
                </a:tc>
                <a:tc>
                  <a:txBody>
                    <a:bodyPr/>
                    <a:p>
                      <a:pPr>
                        <a:buNone/>
                      </a:pPr>
                      <a:r>
                        <a:rPr lang="en-US"/>
                        <a:t>4,520.32</a:t>
                      </a:r>
                      <a:endParaRPr lang="en-US"/>
                    </a:p>
                  </a:txBody>
                  <a:tcPr/>
                </a:tc>
                <a:tc>
                  <a:txBody>
                    <a:bodyPr/>
                    <a:p>
                      <a:pPr algn="l" fontAlgn="t"/>
                      <a:r>
                        <a:rPr sz="1800" b="0" i="0">
                          <a:solidFill>
                            <a:srgbClr val="000000"/>
                          </a:solidFill>
                          <a:latin typeface="Calibri" panose="020F0502020204030204"/>
                          <a:ea typeface="Calibri" panose="020F0502020204030204"/>
                        </a:rPr>
                        <a:t>0.07%</a:t>
                      </a:r>
                      <a:endParaRPr sz="1800" b="0" i="0">
                        <a:solidFill>
                          <a:srgbClr val="000000"/>
                        </a:solidFill>
                        <a:latin typeface="Calibri" panose="020F0502020204030204"/>
                        <a:ea typeface="Calibri" panose="020F0502020204030204"/>
                      </a:endParaRPr>
                    </a:p>
                  </a:txBody>
                  <a:tcPr marL="9842" marR="9842" marT="9842" marB="0" anchor="t" anchorCtr="0"/>
                </a:tc>
              </a:tr>
              <a:tr h="381000">
                <a:tc>
                  <a:txBody>
                    <a:bodyPr/>
                    <a:p>
                      <a:pPr>
                        <a:buNone/>
                      </a:pPr>
                      <a:r>
                        <a:rPr lang="en-US"/>
                        <a:t>Amazon</a:t>
                      </a:r>
                      <a:endParaRPr lang="en-US"/>
                    </a:p>
                  </a:txBody>
                  <a:tcPr/>
                </a:tc>
                <a:tc>
                  <a:txBody>
                    <a:bodyPr/>
                    <a:p>
                      <a:pPr>
                        <a:buNone/>
                      </a:pPr>
                      <a:r>
                        <a:rPr lang="en-US"/>
                        <a:t>4,991.96</a:t>
                      </a:r>
                      <a:endParaRPr lang="en-US"/>
                    </a:p>
                  </a:txBody>
                  <a:tcPr/>
                </a:tc>
                <a:tc>
                  <a:txBody>
                    <a:bodyPr/>
                    <a:p>
                      <a:pPr>
                        <a:buNone/>
                      </a:pPr>
                      <a:r>
                        <a:rPr lang="en-US" b="1"/>
                        <a:t>4,991.08</a:t>
                      </a:r>
                      <a:endParaRPr lang="en-US" b="1"/>
                    </a:p>
                  </a:txBody>
                  <a:tcPr/>
                </a:tc>
                <a:tc>
                  <a:txBody>
                    <a:bodyPr/>
                    <a:p>
                      <a:pPr algn="l" fontAlgn="t"/>
                      <a:r>
                        <a:rPr sz="1800" b="0" i="0">
                          <a:solidFill>
                            <a:srgbClr val="000000"/>
                          </a:solidFill>
                          <a:latin typeface="Calibri" panose="020F0502020204030204"/>
                          <a:ea typeface="Calibri" panose="020F0502020204030204"/>
                        </a:rPr>
                        <a:t>-0.02%</a:t>
                      </a:r>
                      <a:endParaRPr sz="1800" b="0" i="0">
                        <a:solidFill>
                          <a:srgbClr val="000000"/>
                        </a:solidFill>
                        <a:latin typeface="Calibri" panose="020F0502020204030204"/>
                        <a:ea typeface="Calibri" panose="020F0502020204030204"/>
                      </a:endParaRPr>
                    </a:p>
                  </a:txBody>
                  <a:tcPr marL="9842" marR="9842" marT="9842" marB="0" anchor="t" anchorCtr="0"/>
                </a:tc>
              </a:tr>
              <a:tr h="381000">
                <a:tc>
                  <a:txBody>
                    <a:bodyPr/>
                    <a:p>
                      <a:pPr>
                        <a:buNone/>
                      </a:pPr>
                      <a:r>
                        <a:rPr lang="en-US"/>
                        <a:t>DBS</a:t>
                      </a:r>
                      <a:endParaRPr lang="en-US"/>
                    </a:p>
                  </a:txBody>
                  <a:tcPr/>
                </a:tc>
                <a:tc>
                  <a:txBody>
                    <a:bodyPr/>
                    <a:p>
                      <a:pPr>
                        <a:buNone/>
                      </a:pPr>
                      <a:r>
                        <a:rPr lang="en-US" b="1"/>
                        <a:t>646.93</a:t>
                      </a:r>
                      <a:endParaRPr lang="en-US" b="1"/>
                    </a:p>
                  </a:txBody>
                  <a:tcPr/>
                </a:tc>
                <a:tc>
                  <a:txBody>
                    <a:bodyPr/>
                    <a:p>
                      <a:pPr>
                        <a:buNone/>
                      </a:pPr>
                      <a:r>
                        <a:rPr lang="en-US"/>
                        <a:t>687.37</a:t>
                      </a:r>
                      <a:endParaRPr lang="en-US"/>
                    </a:p>
                  </a:txBody>
                  <a:tcPr/>
                </a:tc>
                <a:tc>
                  <a:txBody>
                    <a:bodyPr/>
                    <a:p>
                      <a:pPr algn="l" fontAlgn="t"/>
                      <a:r>
                        <a:rPr sz="1800" b="0" i="0">
                          <a:solidFill>
                            <a:srgbClr val="000000"/>
                          </a:solidFill>
                          <a:latin typeface="Calibri" panose="020F0502020204030204"/>
                          <a:ea typeface="Calibri" panose="020F0502020204030204"/>
                        </a:rPr>
                        <a:t>6.25%</a:t>
                      </a:r>
                      <a:endParaRPr sz="1800" b="0" i="0">
                        <a:solidFill>
                          <a:srgbClr val="000000"/>
                        </a:solidFill>
                        <a:latin typeface="Calibri" panose="020F0502020204030204"/>
                        <a:ea typeface="Calibri" panose="020F0502020204030204"/>
                      </a:endParaRPr>
                    </a:p>
                  </a:txBody>
                  <a:tcPr marL="9842" marR="9842" marT="9842" marB="0" anchor="t" anchorCtr="0"/>
                </a:tc>
              </a:tr>
            </a:tbl>
          </a:graphicData>
        </a:graphic>
      </p:graphicFrame>
      <p:graphicFrame>
        <p:nvGraphicFramePr>
          <p:cNvPr id="14" name="Table 13"/>
          <p:cNvGraphicFramePr/>
          <p:nvPr/>
        </p:nvGraphicFramePr>
        <p:xfrm>
          <a:off x="610235" y="5114925"/>
          <a:ext cx="8533942" cy="1524000"/>
        </p:xfrm>
        <a:graphic>
          <a:graphicData uri="http://schemas.openxmlformats.org/drawingml/2006/table">
            <a:tbl>
              <a:tblPr firstRow="1" bandRow="1">
                <a:tableStyleId>{5C22544A-7EE6-4342-B048-85BDC9FD1C3A}</a:tableStyleId>
              </a:tblPr>
              <a:tblGrid>
                <a:gridCol w="1584812"/>
                <a:gridCol w="2246630"/>
                <a:gridCol w="2276475"/>
                <a:gridCol w="2426025"/>
              </a:tblGrid>
              <a:tr h="381000">
                <a:tc>
                  <a:txBody>
                    <a:bodyPr/>
                    <a:p>
                      <a:pPr>
                        <a:buNone/>
                      </a:pPr>
                      <a:r>
                        <a:rPr lang="en-US"/>
                        <a:t>BIC</a:t>
                      </a:r>
                      <a:endParaRPr lang="en-US"/>
                    </a:p>
                  </a:txBody>
                  <a:tcPr/>
                </a:tc>
                <a:tc>
                  <a:txBody>
                    <a:bodyPr/>
                    <a:p>
                      <a:pPr>
                        <a:buNone/>
                      </a:pPr>
                      <a:r>
                        <a:rPr lang="en-US"/>
                        <a:t>ARIMAX</a:t>
                      </a:r>
                      <a:endParaRPr lang="en-US"/>
                    </a:p>
                  </a:txBody>
                  <a:tcPr/>
                </a:tc>
                <a:tc>
                  <a:txBody>
                    <a:bodyPr/>
                    <a:p>
                      <a:pPr>
                        <a:buNone/>
                      </a:pPr>
                      <a:r>
                        <a:rPr lang="en-US"/>
                        <a:t>SARIMAX</a:t>
                      </a:r>
                      <a:endParaRPr lang="en-US"/>
                    </a:p>
                  </a:txBody>
                  <a:tcPr/>
                </a:tc>
                <a:tc>
                  <a:txBody>
                    <a:bodyPr/>
                    <a:p>
                      <a:pPr>
                        <a:buNone/>
                      </a:pPr>
                      <a:r>
                        <a:rPr lang="en-US"/>
                        <a:t>Variance</a:t>
                      </a:r>
                      <a:endParaRPr lang="en-US"/>
                    </a:p>
                  </a:txBody>
                  <a:tcPr/>
                </a:tc>
              </a:tr>
              <a:tr h="381000">
                <a:tc>
                  <a:txBody>
                    <a:bodyPr/>
                    <a:p>
                      <a:pPr>
                        <a:buNone/>
                      </a:pPr>
                      <a:r>
                        <a:rPr lang="en-US"/>
                        <a:t>Apple</a:t>
                      </a:r>
                      <a:endParaRPr lang="en-US"/>
                    </a:p>
                  </a:txBody>
                  <a:tcPr/>
                </a:tc>
                <a:tc>
                  <a:txBody>
                    <a:bodyPr/>
                    <a:p>
                      <a:pPr>
                        <a:buNone/>
                      </a:pPr>
                      <a:r>
                        <a:rPr lang="en-US" b="1"/>
                        <a:t>4,536.67</a:t>
                      </a:r>
                      <a:endParaRPr lang="en-US" b="1"/>
                    </a:p>
                  </a:txBody>
                  <a:tcPr/>
                </a:tc>
                <a:tc>
                  <a:txBody>
                    <a:bodyPr/>
                    <a:p>
                      <a:pPr>
                        <a:buNone/>
                      </a:pPr>
                      <a:r>
                        <a:rPr lang="en-US"/>
                        <a:t>4,549.72</a:t>
                      </a:r>
                      <a:endParaRPr lang="en-US"/>
                    </a:p>
                  </a:txBody>
                  <a:tcPr/>
                </a:tc>
                <a:tc>
                  <a:txBody>
                    <a:bodyPr/>
                    <a:p>
                      <a:pPr algn="l" fontAlgn="t"/>
                      <a:r>
                        <a:rPr sz="1800" b="0" i="0">
                          <a:solidFill>
                            <a:srgbClr val="000000"/>
                          </a:solidFill>
                          <a:latin typeface="Calibri" panose="020F0502020204030204"/>
                          <a:ea typeface="Calibri" panose="020F0502020204030204"/>
                        </a:rPr>
                        <a:t>0.29%</a:t>
                      </a:r>
                      <a:endParaRPr sz="1800" b="0" i="0">
                        <a:solidFill>
                          <a:srgbClr val="000000"/>
                        </a:solidFill>
                        <a:latin typeface="Calibri" panose="020F0502020204030204"/>
                        <a:ea typeface="Calibri" panose="020F0502020204030204"/>
                      </a:endParaRPr>
                    </a:p>
                  </a:txBody>
                  <a:tcPr marL="9842" marR="9842" marT="9842" marB="0" anchor="t" anchorCtr="0"/>
                </a:tc>
              </a:tr>
              <a:tr h="381000">
                <a:tc>
                  <a:txBody>
                    <a:bodyPr/>
                    <a:p>
                      <a:pPr>
                        <a:buNone/>
                      </a:pPr>
                      <a:r>
                        <a:rPr lang="en-US"/>
                        <a:t>Amazon</a:t>
                      </a:r>
                      <a:endParaRPr lang="en-US"/>
                    </a:p>
                  </a:txBody>
                  <a:tcPr/>
                </a:tc>
                <a:tc>
                  <a:txBody>
                    <a:bodyPr/>
                    <a:p>
                      <a:pPr>
                        <a:buNone/>
                      </a:pPr>
                      <a:r>
                        <a:rPr lang="en-US" b="1"/>
                        <a:t>5,011.60</a:t>
                      </a:r>
                      <a:endParaRPr lang="en-US" b="1"/>
                    </a:p>
                  </a:txBody>
                  <a:tcPr/>
                </a:tc>
                <a:tc>
                  <a:txBody>
                    <a:bodyPr/>
                    <a:p>
                      <a:pPr>
                        <a:buNone/>
                      </a:pPr>
                      <a:r>
                        <a:rPr lang="en-US"/>
                        <a:t>5,020.47</a:t>
                      </a:r>
                      <a:endParaRPr lang="en-US"/>
                    </a:p>
                  </a:txBody>
                  <a:tcPr/>
                </a:tc>
                <a:tc>
                  <a:txBody>
                    <a:bodyPr/>
                    <a:p>
                      <a:pPr algn="l" fontAlgn="t"/>
                      <a:r>
                        <a:rPr sz="1800" b="0" i="0">
                          <a:solidFill>
                            <a:srgbClr val="000000"/>
                          </a:solidFill>
                          <a:latin typeface="Calibri" panose="020F0502020204030204"/>
                          <a:ea typeface="Calibri" panose="020F0502020204030204"/>
                        </a:rPr>
                        <a:t>0.18%</a:t>
                      </a:r>
                      <a:endParaRPr sz="1800" b="0" i="0">
                        <a:solidFill>
                          <a:srgbClr val="000000"/>
                        </a:solidFill>
                        <a:latin typeface="Calibri" panose="020F0502020204030204"/>
                        <a:ea typeface="Calibri" panose="020F0502020204030204"/>
                      </a:endParaRPr>
                    </a:p>
                  </a:txBody>
                  <a:tcPr marL="9842" marR="9842" marT="9842" marB="0" anchor="t" anchorCtr="0"/>
                </a:tc>
              </a:tr>
              <a:tr h="381000">
                <a:tc>
                  <a:txBody>
                    <a:bodyPr/>
                    <a:p>
                      <a:pPr>
                        <a:buNone/>
                      </a:pPr>
                      <a:r>
                        <a:rPr lang="en-US"/>
                        <a:t>DBS</a:t>
                      </a:r>
                      <a:endParaRPr lang="en-US"/>
                    </a:p>
                  </a:txBody>
                  <a:tcPr/>
                </a:tc>
                <a:tc>
                  <a:txBody>
                    <a:bodyPr/>
                    <a:p>
                      <a:pPr>
                        <a:buNone/>
                      </a:pPr>
                      <a:r>
                        <a:rPr lang="en-US" b="1"/>
                        <a:t>666</a:t>
                      </a:r>
                      <a:r>
                        <a:rPr lang="en-US" b="1"/>
                        <a:t>.57</a:t>
                      </a:r>
                      <a:endParaRPr lang="en-US" b="1"/>
                    </a:p>
                  </a:txBody>
                  <a:tcPr/>
                </a:tc>
                <a:tc>
                  <a:txBody>
                    <a:bodyPr/>
                    <a:p>
                      <a:pPr>
                        <a:buNone/>
                      </a:pPr>
                      <a:r>
                        <a:rPr lang="en-US"/>
                        <a:t>716.77</a:t>
                      </a:r>
                      <a:endParaRPr lang="en-US"/>
                    </a:p>
                  </a:txBody>
                  <a:tcPr/>
                </a:tc>
                <a:tc>
                  <a:txBody>
                    <a:bodyPr/>
                    <a:p>
                      <a:pPr algn="l" fontAlgn="t"/>
                      <a:r>
                        <a:rPr sz="1800" b="0" i="0">
                          <a:solidFill>
                            <a:srgbClr val="000000"/>
                          </a:solidFill>
                          <a:latin typeface="Calibri" panose="020F0502020204030204"/>
                          <a:ea typeface="Calibri" panose="020F0502020204030204"/>
                        </a:rPr>
                        <a:t>7.53%</a:t>
                      </a:r>
                      <a:endParaRPr sz="1800" b="0" i="0">
                        <a:solidFill>
                          <a:srgbClr val="000000"/>
                        </a:solidFill>
                        <a:latin typeface="Calibri" panose="020F0502020204030204"/>
                        <a:ea typeface="Calibri" panose="020F0502020204030204"/>
                      </a:endParaRPr>
                    </a:p>
                  </a:txBody>
                  <a:tcPr marL="9842" marR="9842" marT="9842" marB="0" anchor="t" anchorCtr="0"/>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Sources</a:t>
            </a:r>
            <a:endParaRPr lang="en-US"/>
          </a:p>
        </p:txBody>
      </p:sp>
      <p:sp>
        <p:nvSpPr>
          <p:cNvPr id="3" name="Content Placeholder 2"/>
          <p:cNvSpPr>
            <a:spLocks noGrp="1"/>
          </p:cNvSpPr>
          <p:nvPr>
            <p:ph idx="1"/>
          </p:nvPr>
        </p:nvSpPr>
        <p:spPr/>
        <p:txBody>
          <a:bodyPr/>
          <a:p>
            <a:r>
              <a:rPr lang="en-US" altLang="en-US" sz="1800"/>
              <a:t>Help from both ChatGPT and DeepSeek</a:t>
            </a:r>
            <a:endParaRPr lang="en-US" altLang="en-US" sz="1800"/>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1518</Words>
  <Application>WPS Presentation</Application>
  <PresentationFormat>Widescreen</PresentationFormat>
  <Paragraphs>211</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SimSun</vt:lpstr>
      <vt:lpstr>Wingdings</vt:lpstr>
      <vt:lpstr>Microsoft YaHei</vt:lpstr>
      <vt:lpstr>Arial Unicode MS</vt:lpstr>
      <vt:lpstr>Calibri</vt:lpstr>
      <vt:lpstr>Calibri</vt:lpstr>
      <vt:lpstr>Green Color</vt:lpstr>
      <vt:lpstr>CA2 - APPLIED LEARNING ASSIGNMENT 2 Part B</vt:lpstr>
      <vt:lpstr>Contents Page</vt:lpstr>
      <vt:lpstr>Description of data</vt:lpstr>
      <vt:lpstr>Data Exploration</vt:lpstr>
      <vt:lpstr>Data Exploration (small hiccup)</vt:lpstr>
      <vt:lpstr>Start of code</vt:lpstr>
      <vt:lpstr>Data Exploration</vt:lpstr>
      <vt:lpstr>Trendlines</vt:lpstr>
      <vt:lpstr>Trendlines</vt:lpstr>
      <vt:lpstr>ADF Test</vt:lpstr>
      <vt:lpstr>Differencing</vt:lpstr>
      <vt:lpstr>Differencing</vt:lpstr>
      <vt:lpstr>Holt-Winters Exponential Smoothing model</vt:lpstr>
      <vt:lpstr>Holt-Winters Exponential Smoothing model (Apple)</vt:lpstr>
      <vt:lpstr>Holt-Winters Exponential Smoothing model (AZ)</vt:lpstr>
      <vt:lpstr>Holt-Winters Exponential Smoothing model (DBS)</vt:lpstr>
      <vt:lpstr>MAPE score (HWES)</vt:lpstr>
      <vt:lpstr>ARIMA</vt:lpstr>
      <vt:lpstr>ARIMA (Apple)</vt:lpstr>
      <vt:lpstr>ARIMA (AZ)</vt:lpstr>
      <vt:lpstr>ARIMA (DBS)</vt:lpstr>
      <vt:lpstr>SARIMAX</vt:lpstr>
      <vt:lpstr>SARIMAX (Apple)</vt:lpstr>
      <vt:lpstr>SARIMAX (AZ)</vt:lpstr>
      <vt:lpstr>SARIMAX (DBS)</vt:lpstr>
      <vt:lpstr>MAPE</vt:lpstr>
      <vt:lpstr>SARIMAX Params Tuning (1)</vt:lpstr>
      <vt:lpstr>SARIMAX Params Tuning (2)</vt:lpstr>
      <vt:lpstr>SARIMAX Params Tuning (3) Apple</vt:lpstr>
      <vt:lpstr>SARIMAX Params Tuning (4) AZ</vt:lpstr>
      <vt:lpstr>SARIMAX Params Tuning (5) DBS</vt:lpstr>
      <vt:lpstr>MAPE Score</vt:lpstr>
      <vt:lpstr>Residuals</vt:lpstr>
      <vt:lpstr>Residuals</vt:lpstr>
      <vt:lpstr>Conclusion</vt:lpstr>
      <vt:lpstr>Sources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WPS_1704878147</cp:lastModifiedBy>
  <cp:revision>10</cp:revision>
  <dcterms:created xsi:type="dcterms:W3CDTF">2025-02-16T07:05:00Z</dcterms:created>
  <dcterms:modified xsi:type="dcterms:W3CDTF">2026-03-27T02:09:17Z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CA67E8C61C6E43999ED162660CC4B639_13</vt:lpwstr>
  </property>
  <property fmtid="{D5CDD505-2E9C-101B-9397-08002B2CF9AE}" pid="3" name="KSOProductBuildVer">
    <vt:lpwstr>1033-12.1.0.25180</vt:lpwstr>
  </property>
</Properties>
</file>